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oval">
            <a:avLst/>
          </a:prstGeom>
          <a:solidFill>
            <a:srgbClr val="7C6AF7">
              <a:alpha val="12000"/>
            </a:srgbClr>
          </a:solidFill>
          <a:ln w="12700">
            <a:solidFill>
              <a:srgbClr val="7C6A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oval">
            <a:avLst/>
          </a:prstGeom>
          <a:solidFill>
            <a:srgbClr val="A89BF8">
              <a:alpha val="12000"/>
            </a:srgbClr>
          </a:solidFill>
          <a:ln w="12700">
            <a:solidFill>
              <a:srgbClr val="A89BF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365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AI 聊天助手機器人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5種AI角色・多語言・連續對話・本地隱私保障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474720" y="3383280"/>
            <a:ext cx="2194560" cy="36576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  ·  Discord.py 2.0+  ·  Ollama  ·  v1.0.0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AndyChou-UWU / dc-bot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目錄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7899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專案介紹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107899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AI 聊天助手概覽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7899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84648" y="107899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107899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6大核心功能詳解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8132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14813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5種AI角色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148132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角色特色與使用場景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8132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84648" y="14813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多語言支援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48132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5種語言切換方式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1883664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883664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188366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命令系統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1883664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用戶命令與管理員命令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1883664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83664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84648" y="1883664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1883664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技術棧與環境需求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286000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28600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" y="228600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推薦AI模型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94560" y="2286000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模型比較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286000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28600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84648" y="2286000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快速安裝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2286000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6步驟安裝指南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688336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268833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" y="268833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詳細配置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194560" y="2688336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環境變數與高級設定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688336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68833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84648" y="2688336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管理員功能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37960" y="2688336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版本管理、統計、備份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090672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09067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1248" y="309067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使用場景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194560" y="309067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實戰教學範例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3090672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09067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84648" y="3090672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常見問題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37960" y="3090672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&amp; 故障排除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493008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49300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1248" y="349300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部署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2194560" y="349300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容器化部署方案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09160" y="3493008"/>
            <a:ext cx="4114800" cy="338328"/>
          </a:xfrm>
          <a:prstGeom prst="roundRect">
            <a:avLst>
              <a:gd name="adj" fmla="val 27027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349300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184648" y="349300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專案結構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37960" y="3493008"/>
            <a:ext cx="21945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檔案組織與架構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專案介紹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dc-bot？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dc-bot 是一款功能豐富的 Discord AI 聊天機器人，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透過本地 Ollama AI 引擎提供智能對話服務。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用戶無需付費 API，即可在自己的 Discord 伺服器上部署 AI 助手，保障資料隱私。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 5 種專業角色切換、5 種語言、連續對話記憶，以及完整的管理員後台功能。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188720"/>
            <a:ext cx="685800" cy="685800"/>
          </a:xfrm>
          <a:prstGeom prst="oval">
            <a:avLst/>
          </a:prstGeom>
          <a:solidFill>
            <a:srgbClr val="7C6AF7">
              <a:alpha val="30000"/>
            </a:srgbClr>
          </a:solidFill>
          <a:ln w="12700">
            <a:solidFill>
              <a:srgbClr val="7C6AF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0515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52360" y="1188720"/>
            <a:ext cx="685800" cy="685800"/>
          </a:xfrm>
          <a:prstGeom prst="oval">
            <a:avLst/>
          </a:prstGeom>
          <a:solidFill>
            <a:srgbClr val="F9C74F">
              <a:alpha val="30000"/>
            </a:srgbClr>
          </a:solidFill>
          <a:ln w="12700">
            <a:solidFill>
              <a:srgbClr val="F9C74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語言支援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3017520"/>
            <a:ext cx="685800" cy="685800"/>
          </a:xfrm>
          <a:prstGeom prst="oval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對話輪次記憶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12280" y="288036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3017520"/>
            <a:ext cx="685800" cy="685800"/>
          </a:xfrm>
          <a:prstGeom prst="oval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03720" y="379476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本地隱私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核心功能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143000"/>
            <a:ext cx="457200" cy="457200"/>
          </a:xfrm>
          <a:prstGeom prst="oval">
            <a:avLst/>
          </a:prstGeom>
          <a:solidFill>
            <a:srgbClr val="7C6AF7">
              <a:alpha val="40000"/>
            </a:srgbClr>
          </a:solidFill>
          <a:ln w="1270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33272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連續對話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記住對話歷史，支援多輪交互，默認保留最近 10 輪對話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143000"/>
            <a:ext cx="457200" cy="457200"/>
          </a:xfrm>
          <a:prstGeom prst="oval">
            <a:avLst/>
          </a:prstGeom>
          <a:solidFill>
            <a:srgbClr val="F9C74F">
              <a:alpha val="40000"/>
            </a:srgbClr>
          </a:solidFill>
          <a:ln w="1270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913632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多語言支援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5848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繁體中文、英文、日文、韓文、西班牙文，一鍵切換回答語言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0584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6208" y="1143000"/>
            <a:ext cx="457200" cy="457200"/>
          </a:xfrm>
          <a:prstGeom prst="oval">
            <a:avLst/>
          </a:prstGeom>
          <a:solidFill>
            <a:srgbClr val="4ADE80">
              <a:alpha val="40000"/>
            </a:srgbClr>
          </a:solidFill>
          <a:ln w="1270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93992" y="111556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數據持久保存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1645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用戶偏好（角色、語言）自動保存到 user_data.json 文件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2880360"/>
            <a:ext cx="457200" cy="457200"/>
          </a:xfrm>
          <a:prstGeom prst="oval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33272" y="28529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實時版本更新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" y="3383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管理員執行 !admin update，所有用戶立即收到更新通知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2880360"/>
            <a:ext cx="457200" cy="457200"/>
          </a:xfrm>
          <a:prstGeom prst="oval">
            <a:avLst/>
          </a:prstGeom>
          <a:solidFill>
            <a:srgbClr val="22D3EE">
              <a:alpha val="40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913632" y="28529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AI 引擎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55848" y="3383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Ollama 本地運行，無需付費 API，所有數據留在本機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27432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2E3568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36208" y="2880360"/>
            <a:ext cx="457200" cy="457200"/>
          </a:xfrm>
          <a:prstGeom prst="oval">
            <a:avLst/>
          </a:prstGeom>
          <a:solidFill>
            <a:srgbClr val="A89BF8">
              <a:alpha val="40000"/>
            </a:srgbClr>
          </a:solidFill>
          <a:ln w="12700">
            <a:solidFill>
              <a:srgbClr val="A89BF8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793992" y="28529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資料安全隱私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36208" y="33832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 Discord 外不連接任何外部服務，對話歷史僅保存在本地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5 種 AI 角色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Personality Roles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58952"/>
          </a:xfrm>
          <a:prstGeom prst="roundRect">
            <a:avLst>
              <a:gd name="adj" fmla="val 12048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438912" cy="438912"/>
          </a:xfrm>
          <a:prstGeom prst="oval">
            <a:avLst/>
          </a:prstGeom>
          <a:solidFill>
            <a:srgbClr val="7C6AF7">
              <a:alpha val="4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1078992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閒談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140817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Chat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86000" y="111556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友善幽默的日常聊天夥伴，自然對話、表情豐富，適合娛樂放鬆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37960" y="116128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7C6A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16128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閒談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1115568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「今天天氣真好，你有什麼計劃嗎？」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856232"/>
            <a:ext cx="8412480" cy="758952"/>
          </a:xfrm>
          <a:prstGeom prst="roundRect">
            <a:avLst>
              <a:gd name="adj" fmla="val 12048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020824"/>
            <a:ext cx="438912" cy="438912"/>
          </a:xfrm>
          <a:prstGeom prst="oval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20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51560" y="1929384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258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Science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19659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邏輯清晰嚴謹，擅長數學物理化學，逐步推導講解公式過程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01168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9C74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01168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數理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1965960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「步驟1: 2x+5=13 → x=4」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706624"/>
            <a:ext cx="8412480" cy="758952"/>
          </a:xfrm>
          <a:prstGeom prst="roundRect">
            <a:avLst>
              <a:gd name="adj" fmla="val 12048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871216"/>
            <a:ext cx="438912" cy="438912"/>
          </a:xfrm>
          <a:prstGeom prst="oval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71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51560" y="2779776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86000" y="281635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深思熟慮文學感強，語法寫作文學分析，例子豐富逐層遞進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37960" y="2862072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4ADE80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8620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語文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2816352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「『然而』比『但是』更書面化...」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3557016"/>
            <a:ext cx="8412480" cy="758952"/>
          </a:xfrm>
          <a:prstGeom prst="roundRect">
            <a:avLst>
              <a:gd name="adj" fmla="val 12048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721608"/>
            <a:ext cx="438912" cy="438912"/>
          </a:xfrm>
          <a:prstGeom prst="oval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721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💻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051560" y="363016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51560" y="39593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86000" y="36667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實用技術導向，編程除錯算法設計，提供代碼示例與最佳實踐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371246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22D3EE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712464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程式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3666744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「for item in my_list: print(item)」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4407408"/>
            <a:ext cx="8412480" cy="758952"/>
          </a:xfrm>
          <a:prstGeom prst="roundRect">
            <a:avLst>
              <a:gd name="adj" fmla="val 12048"/>
            </a:avLst>
          </a:prstGeom>
          <a:solidFill>
            <a:srgbClr val="2E3568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4572000"/>
            <a:ext cx="438912" cy="438912"/>
          </a:xfrm>
          <a:prstGeom prst="oval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572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🏠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51560" y="448056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家務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1560" y="48097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86000" y="45171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貼心實用友善，烹飪清潔整理建議，步驟清晰實用生活技巧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37960" y="456285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6537960" y="4562856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家務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55280" y="4517136"/>
            <a:ext cx="822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「快速清潔步驟(10分鐘)：1.先...」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多語言支援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429768" cy="429768"/>
          </a:xfrm>
          <a:prstGeom prst="oval">
            <a:avLst/>
          </a:prstGeom>
          <a:solidFill>
            <a:srgbClr val="F87171">
              <a:alpha val="4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🇹🇼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繁體中文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1399032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399032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chinese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1115568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33856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你好！有什麼我可以幫助你的嗎？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801368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1938528"/>
            <a:ext cx="429768" cy="429768"/>
          </a:xfrm>
          <a:prstGeom prst="oval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11096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🇬🇧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51560" y="18928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1560" y="2194560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194560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english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23160" y="1911096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1929384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Hello! How can I assist you today?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596896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734056"/>
            <a:ext cx="429768" cy="429768"/>
          </a:xfrm>
          <a:prstGeom prst="oval">
            <a:avLst/>
          </a:prstGeom>
          <a:solidFill>
            <a:srgbClr val="7C6AF7">
              <a:alpha val="45000"/>
            </a:srgbClr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706624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🇯🇵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51560" y="26883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51560" y="2990088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7C6AF7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2990088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japanese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23160" y="2706624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2724912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こんにちは！何かお手伝いできますか？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392424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529584"/>
            <a:ext cx="429768" cy="429768"/>
          </a:xfrm>
          <a:prstGeom prst="oval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502152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🇰🇷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51560" y="34838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51560" y="3785616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3785616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korean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23160" y="3502152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</p:sp>
      <p:sp>
        <p:nvSpPr>
          <p:cNvPr id="36" name="Text 34"/>
          <p:cNvSpPr/>
          <p:nvPr/>
        </p:nvSpPr>
        <p:spPr>
          <a:xfrm>
            <a:off x="2560320" y="3520440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안녕하세요！어떻게 도와드릴까요？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4187952"/>
            <a:ext cx="8412480" cy="704088"/>
          </a:xfrm>
          <a:prstGeom prst="roundRect">
            <a:avLst>
              <a:gd name="adj" fmla="val 12987"/>
            </a:avLst>
          </a:prstGeom>
          <a:solidFill>
            <a:srgbClr val="2E3568"/>
          </a:solidFill>
          <a:ln/>
        </p:spPr>
      </p:sp>
      <p:sp>
        <p:nvSpPr>
          <p:cNvPr id="38" name="Shape 36"/>
          <p:cNvSpPr/>
          <p:nvPr/>
        </p:nvSpPr>
        <p:spPr>
          <a:xfrm>
            <a:off x="502920" y="4325112"/>
            <a:ext cx="429768" cy="429768"/>
          </a:xfrm>
          <a:prstGeom prst="oval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297680"/>
            <a:ext cx="42976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🇪🇸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51560" y="42793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Español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51560" y="4581144"/>
            <a:ext cx="1234440" cy="228600"/>
          </a:xfrm>
          <a:prstGeom prst="roundRect">
            <a:avLst>
              <a:gd name="adj" fmla="val 20000"/>
            </a:avLst>
          </a:prstGeom>
          <a:solidFill>
            <a:srgbClr val="F9C74F"/>
          </a:solidFill>
          <a:ln/>
        </p:spPr>
      </p:sp>
      <p:sp>
        <p:nvSpPr>
          <p:cNvPr id="42" name="Text 40"/>
          <p:cNvSpPr/>
          <p:nvPr/>
        </p:nvSpPr>
        <p:spPr>
          <a:xfrm>
            <a:off x="1051560" y="4581144"/>
            <a:ext cx="1234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spanish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23160" y="4297680"/>
            <a:ext cx="6172200" cy="457200"/>
          </a:xfrm>
          <a:prstGeom prst="roundRect">
            <a:avLst>
              <a:gd name="adj" fmla="val 20000"/>
            </a:avLst>
          </a:prstGeom>
          <a:solidFill>
            <a:srgbClr val="242B55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0" y="4315968"/>
            <a:ext cx="5897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¡Hola! ¿En qué puedo ayudarte hoy?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用戶命令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11155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1155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!ask 問題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08813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詢問AI問題，支援連續對話，AI記住上下文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35240" y="113385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1848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170992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70992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!mode [角色]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168249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查看當前角色或切換到指定角色（閒談/數理/語文/程式/家務）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172821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230428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23042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!lan [語言]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227685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查看當前語言或切換（chinese/english/japanese/korean/spanish）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35240" y="232257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0720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289864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9864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!clear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287121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清除當前用戶的所有對話歷史記錄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91693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" y="349300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49300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!guide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06040" y="346557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顯示快速入門指南，幫助新用戶了解基本操作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351129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9592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" y="408736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408736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!help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405993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顯示完整命令幫助，列出所有可用命令及說明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410565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590288"/>
            <a:ext cx="8412480" cy="530352"/>
          </a:xfrm>
          <a:prstGeom prst="roundRect">
            <a:avLst>
              <a:gd name="adj" fmla="val 17241"/>
            </a:avLst>
          </a:prstGeom>
          <a:solidFill>
            <a:srgbClr val="2E3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" y="4681728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68172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!deleteall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06040" y="4654296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完全刪除用戶的所有數據、消息與設定（不可逆操作）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35240" y="4700016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管理員命令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Commands — ADMIN_IDS only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08813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B0B8D8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881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61872" y="105156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105156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13632" y="1051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顯示所有管理員命令說明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72821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72821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61872" y="169164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15" name="Text 13"/>
          <p:cNvSpPr/>
          <p:nvPr/>
        </p:nvSpPr>
        <p:spPr>
          <a:xfrm>
            <a:off x="1316736" y="16916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stats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13632" y="1691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 Bot 統計：總用戶數、在線伺服器數量等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236829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4ADE8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36829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61872" y="23317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21" name="Text 19"/>
          <p:cNvSpPr/>
          <p:nvPr/>
        </p:nvSpPr>
        <p:spPr>
          <a:xfrm>
            <a:off x="1316736" y="233172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backup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13632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手動備份所有用戶數據到 user_data.json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300837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C74F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00837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261872" y="297180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27" name="Text 25"/>
          <p:cNvSpPr/>
          <p:nvPr/>
        </p:nvSpPr>
        <p:spPr>
          <a:xfrm>
            <a:off x="1316736" y="297180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update [版本號]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13632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向所有用戶的 DM 推送版本更新通知（如 !admin update 1.0.1）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352044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364845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64845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61872" y="361188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33" name="Text 31"/>
          <p:cNvSpPr/>
          <p:nvPr/>
        </p:nvSpPr>
        <p:spPr>
          <a:xfrm>
            <a:off x="1316736" y="361188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clear_user [ID]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13632" y="36118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清除指定用戶 Discord ID 的所有數據與對話記錄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65760" y="4160520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" y="4288536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87171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42885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61872" y="425196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1A1F3C"/>
          </a:solidFill>
          <a:ln/>
        </p:spPr>
      </p:sp>
      <p:sp>
        <p:nvSpPr>
          <p:cNvPr id="39" name="Text 37"/>
          <p:cNvSpPr/>
          <p:nvPr/>
        </p:nvSpPr>
        <p:spPr>
          <a:xfrm>
            <a:off x="1316736" y="425196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!admin restart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913632" y="4251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重啟整個 Bot（需要有 OS 層面的重啟權限）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65760" y="4846320"/>
            <a:ext cx="8412480" cy="256032"/>
          </a:xfrm>
          <a:prstGeom prst="roundRect">
            <a:avLst>
              <a:gd name="adj" fmla="val 35714"/>
            </a:avLst>
          </a:prstGeom>
          <a:solidFill>
            <a:srgbClr val="242B55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設定管理員：在 設定.env 中設置  ADMIN_IDS=你的Discord_ID,另一個管理員ID  （逗號分隔）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系統架構 &amp; 技術棧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依賴套件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225296"/>
            <a:ext cx="256032" cy="256032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1795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3898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主程式語言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3.8+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" y="1773936"/>
            <a:ext cx="256032" cy="256032"/>
          </a:xfrm>
          <a:prstGeom prst="oval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72821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API 封裝庫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7556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2.0+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1284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" y="2322576"/>
            <a:ext cx="256032" cy="256032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4871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AI 模型運行引擎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23042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2871216"/>
            <a:ext cx="256032" cy="256032"/>
          </a:xfrm>
          <a:prstGeom prst="oval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825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aiohttp / httpx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03580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非同步 HTTP 客戶端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852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31012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2E3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" y="3419856"/>
            <a:ext cx="256032" cy="256032"/>
          </a:xfrm>
          <a:prstGeom prst="oval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37413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358444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環境變數管理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34015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913632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3977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系統需求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42519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CPU：雙核以上  ·  RAM：8GB+（建議 16GB）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磁盤空間：15GB+（供 Ollama 模型使用）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63440" y="777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架構流程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1115568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242B55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1234440"/>
            <a:ext cx="274320" cy="274320"/>
          </a:xfrm>
          <a:prstGeom prst="oval">
            <a:avLst/>
          </a:prstGeom>
          <a:solidFill>
            <a:srgbClr val="5865F2"/>
          </a:solidFill>
          <a:ln w="12700">
            <a:solidFill>
              <a:srgbClr val="586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120700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用戶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63440" y="16459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</a:rPr>
              <a:t>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182880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242B55"/>
          </a:solidFill>
          <a:ln/>
        </p:spPr>
      </p:sp>
      <p:sp>
        <p:nvSpPr>
          <p:cNvPr id="40" name="Shape 38"/>
          <p:cNvSpPr/>
          <p:nvPr/>
        </p:nvSpPr>
        <p:spPr>
          <a:xfrm>
            <a:off x="4773168" y="1947672"/>
            <a:ext cx="274320" cy="274320"/>
          </a:xfrm>
          <a:prstGeom prst="oval">
            <a:avLst/>
          </a:prstGeom>
          <a:solidFill>
            <a:srgbClr val="B0B8D8"/>
          </a:solidFill>
          <a:ln w="12700">
            <a:solidFill>
              <a:srgbClr val="B0B8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38928" y="19202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API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663440" y="2359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</a:rPr>
              <a:t>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63440" y="2542032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242B55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2660904"/>
            <a:ext cx="274320" cy="274320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38928" y="263347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discord.py Bot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663440" y="30723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</a:rPr>
              <a:t>↓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255264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242B55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3168" y="3374136"/>
            <a:ext cx="274320" cy="274320"/>
          </a:xfrm>
          <a:prstGeom prst="oval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38928" y="334670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(本地 AI)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663440" y="378561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8D8"/>
                </a:solidFill>
              </a:rPr>
              <a:t>↓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663440" y="3968496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242B55"/>
          </a:solidFill>
          <a:ln/>
        </p:spPr>
      </p:sp>
      <p:sp>
        <p:nvSpPr>
          <p:cNvPr id="52" name="Shape 50"/>
          <p:cNvSpPr/>
          <p:nvPr/>
        </p:nvSpPr>
        <p:spPr>
          <a:xfrm>
            <a:off x="4773168" y="4087368"/>
            <a:ext cx="274320" cy="274320"/>
          </a:xfrm>
          <a:prstGeom prst="oval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38928" y="405993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模型回應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推薦 Ollama 模型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AI Models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7C6AF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11556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7C6AF7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15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預設推薦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65960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Qwen2.5-1.5B-Instruct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最佳中文支援，適合所有場景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0" y="1097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980MB  ·  速度: 快速  ·  質量: 優秀  ·  ⭐⭐⭐⭐⭐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444752"/>
            <a:ext cx="3291840" cy="301752"/>
          </a:xfrm>
          <a:prstGeom prst="roundRect">
            <a:avLst>
              <a:gd name="adj" fmla="val 30303"/>
            </a:avLst>
          </a:prstGeom>
          <a:solidFill>
            <a:srgbClr val="1A1F3C"/>
          </a:solidFill>
          <a:ln/>
        </p:spPr>
      </p:sp>
      <p:sp>
        <p:nvSpPr>
          <p:cNvPr id="12" name="Text 10"/>
          <p:cNvSpPr/>
          <p:nvPr/>
        </p:nvSpPr>
        <p:spPr>
          <a:xfrm>
            <a:off x="5376672" y="1463040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Qwen2.5-1.5B-Instruct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103120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速度優先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20665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gemma2:2b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65960" y="2468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有限時的最佳選擇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0" y="20848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1.6GB  ·  速度: 最快  ·  質量: 良好  ·  ⭐⭐⭐⭐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432304"/>
            <a:ext cx="3291840" cy="301752"/>
          </a:xfrm>
          <a:prstGeom prst="roundRect">
            <a:avLst>
              <a:gd name="adj" fmla="val 30303"/>
            </a:avLst>
          </a:prstGeom>
          <a:solidFill>
            <a:srgbClr val="1A1F3C"/>
          </a:solidFill>
          <a:ln/>
        </p:spPr>
      </p:sp>
      <p:sp>
        <p:nvSpPr>
          <p:cNvPr id="20" name="Text 18"/>
          <p:cNvSpPr/>
          <p:nvPr/>
        </p:nvSpPr>
        <p:spPr>
          <a:xfrm>
            <a:off x="5376672" y="2450592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gemma2:2b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309067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英文優先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65960" y="3054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65960" y="3456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英文對話表現出色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0" y="307238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3.8GB  ·  速度: 中等  ·  質量: 優秀  ·  ⭐⭐⭐⭐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03520" y="3419856"/>
            <a:ext cx="3291840" cy="301752"/>
          </a:xfrm>
          <a:prstGeom prst="roundRect">
            <a:avLst>
              <a:gd name="adj" fmla="val 30303"/>
            </a:avLst>
          </a:prstGeom>
          <a:solidFill>
            <a:srgbClr val="1A1F3C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3438144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llama2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68496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" y="4078224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F9C74F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4078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指令跟隨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6596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mistral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965960" y="44439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指令跟隨能力強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03520" y="40599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大小: 4.1GB  ·  速度: 中等  ·  質量: 優秀  ·  ⭐⭐⭐⭐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03520" y="4407408"/>
            <a:ext cx="3291840" cy="301752"/>
          </a:xfrm>
          <a:prstGeom prst="roundRect">
            <a:avLst>
              <a:gd name="adj" fmla="val 30303"/>
            </a:avLst>
          </a:prstGeom>
          <a:solidFill>
            <a:srgbClr val="1A1F3C"/>
          </a:solidFill>
          <a:ln/>
        </p:spPr>
      </p:sp>
      <p:sp>
        <p:nvSpPr>
          <p:cNvPr id="36" name="Text 34"/>
          <p:cNvSpPr/>
          <p:nvPr/>
        </p:nvSpPr>
        <p:spPr>
          <a:xfrm>
            <a:off x="5376672" y="4425696"/>
            <a:ext cx="3145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mistral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快速安裝指南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— 5~10 minutes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52728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607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Ollama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1353312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Qwen2.5-1.5B-Instruct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16642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前往 ollama.ai 下載安裝，Windows / Mac / Linux 均支援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252728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252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06070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Python 套件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57800" y="1353312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17" name="Text 15"/>
          <p:cNvSpPr/>
          <p:nvPr/>
        </p:nvSpPr>
        <p:spPr>
          <a:xfrm>
            <a:off x="5321808" y="13533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57800" y="166420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在項目資料夾中執行，自動安裝 discord.py, aiohttp, httpx 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039112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2286000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2093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取得 Discord Token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0120" y="2386584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2386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discord.com/developers/applications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" y="26974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新增應用 → Bot → 複製 Token，勾選 Message Content Intent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039112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2286000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0939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設定.env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57800" y="2386584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31" name="Text 29"/>
          <p:cNvSpPr/>
          <p:nvPr/>
        </p:nvSpPr>
        <p:spPr>
          <a:xfrm>
            <a:off x="5321808" y="23865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DISCORD_TOKEN=你的Token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OLLAMA_MODEL=Qwen2.5-1.5B-Instruct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57800" y="269748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可選：設置 ADMIN_IDS、OLLAMA_BASE_URL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072384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" y="3319272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319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0120" y="3127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邀請 Bot 到伺服器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60120" y="3419856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38" name="Text 36"/>
          <p:cNvSpPr/>
          <p:nvPr/>
        </p:nvSpPr>
        <p:spPr>
          <a:xfrm>
            <a:off x="1024128" y="3419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 → URL Generator → scope: bot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60120" y="373075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勾選 Send Messages + Read Messages + Read Message History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72384"/>
            <a:ext cx="4069080" cy="941832"/>
          </a:xfrm>
          <a:prstGeom prst="roundRect">
            <a:avLst>
              <a:gd name="adj" fmla="val 9709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73168" y="3319272"/>
            <a:ext cx="384048" cy="384048"/>
          </a:xfrm>
          <a:prstGeom prst="oval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319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57800" y="312724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257800" y="3419856"/>
            <a:ext cx="3337560" cy="274320"/>
          </a:xfrm>
          <a:prstGeom prst="roundRect">
            <a:avLst>
              <a:gd name="adj" fmla="val 33333"/>
            </a:avLst>
          </a:prstGeom>
          <a:solidFill>
            <a:srgbClr val="1A1F3C"/>
          </a:solidFill>
          <a:ln/>
        </p:spPr>
      </p:sp>
      <p:sp>
        <p:nvSpPr>
          <p:cNvPr id="45" name="Text 43"/>
          <p:cNvSpPr/>
          <p:nvPr/>
        </p:nvSpPr>
        <p:spPr>
          <a:xfrm>
            <a:off x="5321808" y="34198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bot.py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57800" y="3730752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 Bot 上線狀態即完成！在 DM 輸入 !guide 查看教學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詳細配置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Guide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環境變數設定（設定.env）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194560" cy="320040"/>
          </a:xfrm>
          <a:prstGeom prst="roundRect">
            <a:avLst>
              <a:gd name="adj" fmla="val 28571"/>
            </a:avLst>
          </a:prstGeom>
          <a:solidFill>
            <a:srgbClr val="7C6AF7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97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變數名稱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7C6AF7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97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097280"/>
            <a:ext cx="1645920" cy="320040"/>
          </a:xfrm>
          <a:prstGeom prst="roundRect">
            <a:avLst>
              <a:gd name="adj" fmla="val 28571"/>
            </a:avLst>
          </a:prstGeom>
          <a:solidFill>
            <a:srgbClr val="7C6AF7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097280"/>
            <a:ext cx="3566160" cy="320040"/>
          </a:xfrm>
          <a:prstGeom prst="roundRect">
            <a:avLst>
              <a:gd name="adj" fmla="val 28571"/>
            </a:avLst>
          </a:prstGeom>
          <a:solidFill>
            <a:srgbClr val="7C6AF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444752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444752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DISCORD_TOKEN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1444752"/>
            <a:ext cx="91440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17" name="Text 15"/>
          <p:cNvSpPr/>
          <p:nvPr/>
        </p:nvSpPr>
        <p:spPr>
          <a:xfrm>
            <a:off x="2670048" y="1444752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必需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66160" y="1444752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19" name="Text 17"/>
          <p:cNvSpPr/>
          <p:nvPr/>
        </p:nvSpPr>
        <p:spPr>
          <a:xfrm>
            <a:off x="3630168" y="1444752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1444752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21" name="Text 19"/>
          <p:cNvSpPr/>
          <p:nvPr/>
        </p:nvSpPr>
        <p:spPr>
          <a:xfrm>
            <a:off x="5321808" y="1444752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 Token（從 Developer Portal 複製）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1892808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1892808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OLLAMA_BASE_URL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06040" y="1892808"/>
            <a:ext cx="91440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25" name="Text 23"/>
          <p:cNvSpPr/>
          <p:nvPr/>
        </p:nvSpPr>
        <p:spPr>
          <a:xfrm>
            <a:off x="2670048" y="1892808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選填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66160" y="1892808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27" name="Text 25"/>
          <p:cNvSpPr/>
          <p:nvPr/>
        </p:nvSpPr>
        <p:spPr>
          <a:xfrm>
            <a:off x="3630168" y="189280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57800" y="1892808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29" name="Text 27"/>
          <p:cNvSpPr/>
          <p:nvPr/>
        </p:nvSpPr>
        <p:spPr>
          <a:xfrm>
            <a:off x="5321808" y="1892808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API 地址，Docker 部署時需修改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340864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2340864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OLLAMA_MODEL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06040" y="2340864"/>
            <a:ext cx="91440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33" name="Text 31"/>
          <p:cNvSpPr/>
          <p:nvPr/>
        </p:nvSpPr>
        <p:spPr>
          <a:xfrm>
            <a:off x="2670048" y="2340864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選填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66160" y="2340864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35" name="Text 33"/>
          <p:cNvSpPr/>
          <p:nvPr/>
        </p:nvSpPr>
        <p:spPr>
          <a:xfrm>
            <a:off x="3630168" y="2340864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257800" y="2340864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2E3568"/>
          </a:solidFill>
          <a:ln/>
        </p:spPr>
      </p:sp>
      <p:sp>
        <p:nvSpPr>
          <p:cNvPr id="37" name="Text 35"/>
          <p:cNvSpPr/>
          <p:nvPr/>
        </p:nvSpPr>
        <p:spPr>
          <a:xfrm>
            <a:off x="5321808" y="2340864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使用的 AI 模型名稱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2788920"/>
            <a:ext cx="219456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2788920"/>
            <a:ext cx="2066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ADMIN_IDS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06040" y="2788920"/>
            <a:ext cx="91440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41" name="Text 39"/>
          <p:cNvSpPr/>
          <p:nvPr/>
        </p:nvSpPr>
        <p:spPr>
          <a:xfrm>
            <a:off x="2670048" y="2788920"/>
            <a:ext cx="786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選填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566160" y="278892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43" name="Text 41"/>
          <p:cNvSpPr/>
          <p:nvPr/>
        </p:nvSpPr>
        <p:spPr>
          <a:xfrm>
            <a:off x="3630168" y="2788920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257800" y="2788920"/>
            <a:ext cx="3566160" cy="411480"/>
          </a:xfrm>
          <a:prstGeom prst="roundRect">
            <a:avLst>
              <a:gd name="adj" fmla="val 22222"/>
            </a:avLst>
          </a:prstGeom>
          <a:solidFill>
            <a:srgbClr val="242B55"/>
          </a:solidFill>
          <a:ln/>
        </p:spPr>
      </p:sp>
      <p:sp>
        <p:nvSpPr>
          <p:cNvPr id="45" name="Text 43"/>
          <p:cNvSpPr/>
          <p:nvPr/>
        </p:nvSpPr>
        <p:spPr>
          <a:xfrm>
            <a:off x="5321808" y="2788920"/>
            <a:ext cx="3438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 Discord ID（逗號分隔，可多個）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48640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修改對話歷史長度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3621024"/>
            <a:ext cx="3749040" cy="685800"/>
          </a:xfrm>
          <a:prstGeom prst="roundRect">
            <a:avLst>
              <a:gd name="adj" fmla="val 13333"/>
            </a:avLst>
          </a:prstGeom>
          <a:solidFill>
            <a:srgbClr val="1A1F3C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363931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在 bot.py 第 100 行附近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MAX_HISTORY = 10  # 修改為想要的值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增大保留更多上下文，減少可節省記憶體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32461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242B55"/>
          </a:solidFill>
          <a:ln/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846320" y="33101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9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自訂 AI 角色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46320" y="3621024"/>
            <a:ext cx="3749040" cy="685800"/>
          </a:xfrm>
          <a:prstGeom prst="roundRect">
            <a:avLst>
              <a:gd name="adj" fmla="val 13333"/>
            </a:avLst>
          </a:prstGeom>
          <a:solidFill>
            <a:srgbClr val="1A1F3C"/>
          </a:solidFill>
          <a:ln/>
        </p:spPr>
      </p:sp>
      <p:sp>
        <p:nvSpPr>
          <p:cNvPr id="54" name="Text 52"/>
          <p:cNvSpPr/>
          <p:nvPr/>
        </p:nvSpPr>
        <p:spPr>
          <a:xfrm>
            <a:off x="4919472" y="3639312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PERSONALITIES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9C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"自訂": {"system": "你是..."}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84632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 bot.py 中的 PERSONALITIES 字典後重啟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實戰使用場景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00584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學習 Python 程式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1168" cy="201168"/>
          </a:xfrm>
          <a:prstGeom prst="oval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173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程式  →  切換到程式角色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847088"/>
            <a:ext cx="201168" cy="201168"/>
          </a:xfrm>
          <a:prstGeom prst="oval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7830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什麼是函數？  →  基礎解說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201168" cy="201168"/>
          </a:xfrm>
          <a:prstGeom prst="oval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488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能給我一個例子嗎？  →  AI 記得上文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578608"/>
            <a:ext cx="201168" cy="201168"/>
          </a:xfrm>
          <a:prstGeom prst="oval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146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!clear  →  開始新話題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96012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00584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烹飪建議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1481328"/>
            <a:ext cx="201168" cy="201168"/>
          </a:xfrm>
          <a:prstGeom prst="oval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41732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家務  →  切換家務角色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847088"/>
            <a:ext cx="201168" cy="201168"/>
          </a:xfrm>
          <a:prstGeom prst="oval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7830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如何快速清潔廚房？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2212848"/>
            <a:ext cx="201168" cy="201168"/>
          </a:xfrm>
          <a:prstGeom prst="oval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1488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如果我要同時煮 10 個蛋？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578608"/>
            <a:ext cx="201168" cy="201168"/>
          </a:xfrm>
          <a:prstGeom prst="oval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5146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!lan english  →  切換成英文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15468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F9C74F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15468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F9C74F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20040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數學解題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675888"/>
            <a:ext cx="201168" cy="201168"/>
          </a:xfrm>
          <a:prstGeom prst="oval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6118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數理  →  切換數理角色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041648"/>
            <a:ext cx="201168" cy="201168"/>
          </a:xfrm>
          <a:prstGeom prst="oval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9776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求解：2x + 5 = 13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4407408"/>
            <a:ext cx="201168" cy="201168"/>
          </a:xfrm>
          <a:prstGeom prst="oval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434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給出逐步推導：x = 4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4773168"/>
            <a:ext cx="201168" cy="201168"/>
          </a:xfrm>
          <a:prstGeom prst="oval">
            <a:avLst/>
          </a:prstGeom>
          <a:solidFill>
            <a:srgbClr val="F9C74F">
              <a:alpha val="50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70916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再給我一題練習？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154680"/>
            <a:ext cx="4069080" cy="2011680"/>
          </a:xfrm>
          <a:prstGeom prst="roundRect">
            <a:avLst>
              <a:gd name="adj" fmla="val 4545"/>
            </a:avLst>
          </a:prstGeom>
          <a:solidFill>
            <a:srgbClr val="2E3568"/>
          </a:solidFill>
          <a:ln w="1016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154680"/>
            <a:ext cx="4069080" cy="384048"/>
          </a:xfrm>
          <a:prstGeom prst="roundRect">
            <a:avLst>
              <a:gd name="adj" fmla="val 23810"/>
            </a:avLst>
          </a:prstGeom>
          <a:solidFill>
            <a:srgbClr val="4ADE80"/>
          </a:solidFill>
          <a:ln/>
        </p:spPr>
      </p:sp>
      <p:sp>
        <p:nvSpPr>
          <p:cNvPr id="40" name="Text 38"/>
          <p:cNvSpPr/>
          <p:nvPr/>
        </p:nvSpPr>
        <p:spPr>
          <a:xfrm>
            <a:off x="4773168" y="3200400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寫作校正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00600" y="3675888"/>
            <a:ext cx="201168" cy="201168"/>
          </a:xfrm>
          <a:prstGeom prst="oval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361188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!mode 語文  →  切換語文角色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4041648"/>
            <a:ext cx="201168" cy="201168"/>
          </a:xfrm>
          <a:prstGeom prst="oval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74920" y="397764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!lan english  →  英文模式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00600" y="4407408"/>
            <a:ext cx="201168" cy="201168"/>
          </a:xfrm>
          <a:prstGeom prst="oval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434340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Can you proofread my essay?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00600" y="4773168"/>
            <a:ext cx="201168" cy="201168"/>
          </a:xfrm>
          <a:prstGeom prst="oval">
            <a:avLst/>
          </a:prstGeom>
          <a:solidFill>
            <a:srgbClr val="4ADE80">
              <a:alpha val="5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4709160"/>
            <a:ext cx="3520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!ask Make it more formal please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2B55"/>
          </a:solidFill>
          <a:ln w="12700">
            <a:solidFill>
              <a:srgbClr val="242B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常見問題 &amp; 故障排除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&amp; Troubleshooting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411480" cy="411480"/>
          </a:xfrm>
          <a:prstGeom prst="oval">
            <a:avLst/>
          </a:prstGeom>
          <a:solidFill>
            <a:srgbClr val="F87171">
              <a:alpha val="4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不回應？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Ollama 是否運行（ollama list）、Token 是否正確、Bot 是否有 Send Messages 權限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097280"/>
            <a:ext cx="411480" cy="411480"/>
          </a:xfrm>
          <a:prstGeom prst="oval">
            <a:avLst/>
          </a:prstGeom>
          <a:solidFill>
            <a:srgbClr val="F9C74F">
              <a:alpha val="45000"/>
            </a:srgbClr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57800" y="106984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回答速度很慢？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37160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本地模型比雲 API 慢屬正常。可改用較小模型（gemma2:2b），或減少 MAX_HISTORY 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574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148840"/>
            <a:ext cx="411480" cy="411480"/>
          </a:xfrm>
          <a:prstGeom prst="oval">
            <a:avLst/>
          </a:prstGeom>
          <a:solidFill>
            <a:srgbClr val="F97316">
              <a:alpha val="4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12140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404 錯誤？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42316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ollama pull &lt;模型名&gt; 重新下載，或用 ollama list 確認模型名稱正確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05740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2148840"/>
            <a:ext cx="411480" cy="411480"/>
          </a:xfrm>
          <a:prstGeom prst="oval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212140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連線失敗？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242316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檢查 Discord Token 是否有誤，確認 Bot 已邀請到伺服器，查看終端錯誤訊息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00400"/>
            <a:ext cx="411480" cy="411480"/>
          </a:xfrm>
          <a:prstGeom prst="oval">
            <a:avLst/>
          </a:prstGeom>
          <a:solidFill>
            <a:srgbClr val="A89BF8">
              <a:alpha val="45000"/>
            </a:srgbClr>
          </a:solidFill>
          <a:ln w="12700">
            <a:solidFill>
              <a:srgbClr val="A89B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17296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重複回答？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347472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!clear 清除對話歷史，或嘗試更換 AI 角色（!mode 程式），詢問更具體問題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2E3568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3200400"/>
            <a:ext cx="411480" cy="411480"/>
          </a:xfrm>
          <a:prstGeom prst="oval">
            <a:avLst/>
          </a:prstGeom>
          <a:solidFill>
            <a:srgbClr val="4ADE80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200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3172968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數據文件損毀？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474720"/>
            <a:ext cx="3355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備份後刪除 user_data.json，重啟 Bot 會自動重建，或執行 !admin restore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oval">
            <a:avLst/>
          </a:prstGeom>
          <a:solidFill>
            <a:srgbClr val="7C6AF7">
              <a:alpha val="12000"/>
            </a:srgbClr>
          </a:solidFill>
          <a:ln w="12700">
            <a:solidFill>
              <a:srgbClr val="7C6AF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oval">
            <a:avLst/>
          </a:prstGeom>
          <a:solidFill>
            <a:srgbClr val="A89BF8">
              <a:alpha val="12000"/>
            </a:srgbClr>
          </a:solidFill>
          <a:ln w="12700">
            <a:solidFill>
              <a:srgbClr val="A89BF8">
                <a:alpha val="1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2743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感謝使用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祝你使用愉快！如有任何建議，歡迎提交 Issue 或 Pull Request 🚀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5種AI角色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19072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10" name="Text 7"/>
          <p:cNvSpPr/>
          <p:nvPr/>
        </p:nvSpPr>
        <p:spPr>
          <a:xfrm>
            <a:off x="1719072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多語言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63824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12" name="Text 9"/>
          <p:cNvSpPr/>
          <p:nvPr/>
        </p:nvSpPr>
        <p:spPr>
          <a:xfrm>
            <a:off x="3163824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連續對話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08576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本地AI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53328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16" name="Text 13"/>
          <p:cNvSpPr/>
          <p:nvPr/>
        </p:nvSpPr>
        <p:spPr>
          <a:xfrm>
            <a:off x="6053328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隱私保障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98080" y="329184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7C6AF7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0" y="3291840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管理員功能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3931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github.com/AndyChou-UWU/dc-bot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371600" y="4434840"/>
            <a:ext cx="6400800" cy="548640"/>
          </a:xfrm>
          <a:prstGeom prst="roundRect">
            <a:avLst>
              <a:gd name="adj" fmla="val 16667"/>
            </a:avLst>
          </a:prstGeom>
          <a:solidFill>
            <a:srgbClr val="242B55"/>
          </a:solidFill>
          <a:ln/>
        </p:spPr>
      </p:sp>
      <p:sp>
        <p:nvSpPr>
          <p:cNvPr id="21" name="Text 18"/>
          <p:cNvSpPr/>
          <p:nvPr/>
        </p:nvSpPr>
        <p:spPr>
          <a:xfrm>
            <a:off x="1508760" y="4462272"/>
            <a:ext cx="6126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 快速部署：docker build -t discord-bot .  →  docker run -d -e DISCORD_TOKEN=你的Token discord-bot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Discord AI Chat Bot</dc:title>
  <dc:subject>PptxGenJS Presentation</dc:subject>
  <dc:creator>PptxGenJS</dc:creator>
  <cp:lastModifiedBy>PptxGenJS</cp:lastModifiedBy>
  <cp:revision>1</cp:revision>
  <dcterms:created xsi:type="dcterms:W3CDTF">2026-06-14T12:21:47Z</dcterms:created>
  <dcterms:modified xsi:type="dcterms:W3CDTF">2026-06-14T12:21:47Z</dcterms:modified>
</cp:coreProperties>
</file>