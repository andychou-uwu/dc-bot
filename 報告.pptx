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oval">
            <a:avLst/>
          </a:prstGeom>
          <a:solidFill>
            <a:srgbClr val="7C6AF7">
              <a:alpha val="12000"/>
            </a:srgbClr>
          </a:solidFill>
          <a:ln w="12700">
            <a:solidFill>
              <a:srgbClr val="7C6A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858000" y="2743200"/>
            <a:ext cx="3200400" cy="3200400"/>
          </a:xfrm>
          <a:prstGeom prst="oval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274320"/>
            <a:ext cx="1554480" cy="1554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subaso-俗北ㄙㄡˊ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89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多功能 AI Discord 聊天機器人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00400"/>
            <a:ext cx="3291840" cy="36576"/>
          </a:xfrm>
          <a:prstGeom prst="rect">
            <a:avLst/>
          </a:prstGeom>
          <a:solidFill>
            <a:srgbClr val="7C6AF7"/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737360" y="3401568"/>
            <a:ext cx="1874520" cy="475488"/>
          </a:xfrm>
          <a:prstGeom prst="roundRect">
            <a:avLst>
              <a:gd name="adj" fmla="val 19231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737360" y="3401568"/>
            <a:ext cx="1874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對話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749040" y="3401568"/>
            <a:ext cx="1874520" cy="475488"/>
          </a:xfrm>
          <a:prstGeom prst="roundRect">
            <a:avLst>
              <a:gd name="adj" fmla="val 19231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749040" y="3401568"/>
            <a:ext cx="1874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娛樂遊戲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760720" y="3401568"/>
            <a:ext cx="1874520" cy="475488"/>
          </a:xfrm>
          <a:prstGeom prst="roundRect">
            <a:avLst>
              <a:gd name="adj" fmla="val 19231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760720" y="3401568"/>
            <a:ext cx="1874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️ 管理工具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3.8+  ·  Discord.py 2.0+  ·  Ollama  ·  github.com/AndyChou-UWU/dc-bot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主題發想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Built This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102412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9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問題背景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1389888"/>
            <a:ext cx="79552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 是我們日常最常用的溝通平台，但它沒有內建 AI 助手。市面上的 AI Bot 多需要付費 API 或收費訂閱，學生族群難以負擔，且資料會上傳到外部伺服器，隱私有顧慮。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" y="251460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371600" y="2651760"/>
            <a:ext cx="658368" cy="658368"/>
          </a:xfrm>
          <a:prstGeom prst="oval">
            <a:avLst/>
          </a:prstGeom>
          <a:solidFill>
            <a:srgbClr val="F9C74F">
              <a:alpha val="40000"/>
            </a:srgbClr>
          </a:solidFill>
          <a:ln w="1270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71600" y="265176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5488" y="3401568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零成本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5488" y="3794760"/>
            <a:ext cx="2487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Ollama 在本地跑 AI 模型，不花一分錢 API 費用，學生也能自架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251460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2E3568"/>
          </a:solidFill>
          <a:ln w="10160">
            <a:solidFill>
              <a:srgbClr val="22D3EE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251960" y="2651760"/>
            <a:ext cx="658368" cy="658368"/>
          </a:xfrm>
          <a:prstGeom prst="oval">
            <a:avLst/>
          </a:prstGeom>
          <a:solidFill>
            <a:srgbClr val="22D3EE">
              <a:alpha val="40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251960" y="265176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355848" y="3401568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隱私優先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355848" y="3794760"/>
            <a:ext cx="2487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對話完全在本機處理，資料不離開自己的電腦，保障個資安全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251460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2E3568"/>
          </a:solidFill>
          <a:ln w="10160">
            <a:solidFill>
              <a:srgbClr val="4ADE80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132320" y="2651760"/>
            <a:ext cx="658368" cy="658368"/>
          </a:xfrm>
          <a:prstGeom prst="oval">
            <a:avLst/>
          </a:prstGeom>
          <a:solidFill>
            <a:srgbClr val="4ADE80">
              <a:alpha val="40000"/>
            </a:srgbClr>
          </a:solidFill>
          <a:ln w="12700">
            <a:solidFill>
              <a:srgbClr val="4ADE80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132320" y="265176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36208" y="3401568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 Discord 更有趣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36208" y="3794760"/>
            <a:ext cx="2487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不只是 AI 問答，還加入遊戲與互動功能，讓伺服器更活躍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功能介紹總覽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Overview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069080" cy="2148840"/>
          </a:xfrm>
          <a:prstGeom prst="roundRect">
            <a:avLst>
              <a:gd name="adj" fmla="val 4255"/>
            </a:avLst>
          </a:prstGeom>
          <a:solidFill>
            <a:srgbClr val="2E3568"/>
          </a:solidFill>
          <a:ln w="10160">
            <a:solidFill>
              <a:srgbClr val="7C6AF7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960120"/>
            <a:ext cx="4069080" cy="402336"/>
          </a:xfrm>
          <a:prstGeom prst="roundRect">
            <a:avLst>
              <a:gd name="adj" fmla="val 22727"/>
            </a:avLst>
          </a:prstGeom>
          <a:solidFill>
            <a:srgbClr val="7C6AF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75488" y="1005840"/>
            <a:ext cx="3849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AI 對話系統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30352" y="1472184"/>
            <a:ext cx="164592" cy="164592"/>
          </a:xfrm>
          <a:prstGeom prst="oval">
            <a:avLst/>
          </a:prstGeom>
          <a:solidFill>
            <a:srgbClr val="7C6AF7">
              <a:alpha val="60000"/>
            </a:srgbClr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1408176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種角色切換（閒談／數理／語文／程式／家務）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30352" y="1865376"/>
            <a:ext cx="164592" cy="164592"/>
          </a:xfrm>
          <a:prstGeom prst="oval">
            <a:avLst/>
          </a:prstGeom>
          <a:solidFill>
            <a:srgbClr val="7C6AF7">
              <a:alpha val="60000"/>
            </a:srgbClr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7240" y="1801368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種語言支援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30352" y="2258568"/>
            <a:ext cx="164592" cy="164592"/>
          </a:xfrm>
          <a:prstGeom prst="oval">
            <a:avLst/>
          </a:prstGeom>
          <a:solidFill>
            <a:srgbClr val="7C6AF7">
              <a:alpha val="60000"/>
            </a:srgbClr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219456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連續對話記憶（10 輪）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30352" y="2651760"/>
            <a:ext cx="164592" cy="164592"/>
          </a:xfrm>
          <a:prstGeom prst="oval">
            <a:avLst/>
          </a:prstGeom>
          <a:solidFill>
            <a:srgbClr val="7C6AF7">
              <a:alpha val="60000"/>
            </a:srgbClr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258775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Ollama 引擎，零成本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960120"/>
            <a:ext cx="4069080" cy="2148840"/>
          </a:xfrm>
          <a:prstGeom prst="roundRect">
            <a:avLst>
              <a:gd name="adj" fmla="val 4255"/>
            </a:avLst>
          </a:prstGeom>
          <a:solidFill>
            <a:srgbClr val="2E3568"/>
          </a:solidFill>
          <a:ln w="10160">
            <a:solidFill>
              <a:srgbClr val="4ADE80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663440" y="960120"/>
            <a:ext cx="4069080" cy="402336"/>
          </a:xfrm>
          <a:prstGeom prst="roundRect">
            <a:avLst>
              <a:gd name="adj" fmla="val 22727"/>
            </a:avLst>
          </a:prstGeom>
          <a:solidFill>
            <a:srgbClr val="4ADE8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73168" y="1005840"/>
            <a:ext cx="3849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娛樂遊戲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828032" y="1472184"/>
            <a:ext cx="164592" cy="164592"/>
          </a:xfrm>
          <a:prstGeom prst="oval">
            <a:avLst/>
          </a:prstGeom>
          <a:solidFill>
            <a:srgbClr val="4ADE80">
              <a:alpha val="6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74920" y="1408176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Pokémon 猜謎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828032" y="1865376"/>
            <a:ext cx="164592" cy="164592"/>
          </a:xfrm>
          <a:prstGeom prst="oval">
            <a:avLst/>
          </a:prstGeom>
          <a:solidFill>
            <a:srgbClr val="4ADE80">
              <a:alpha val="6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074920" y="1801368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 知識競賽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28032" y="2258568"/>
            <a:ext cx="164592" cy="164592"/>
          </a:xfrm>
          <a:prstGeom prst="oval">
            <a:avLst/>
          </a:prstGeom>
          <a:solidFill>
            <a:srgbClr val="4ADE80">
              <a:alpha val="6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074920" y="219456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動漫角色猜謎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828032" y="2651760"/>
            <a:ext cx="164592" cy="164592"/>
          </a:xfrm>
          <a:prstGeom prst="oval">
            <a:avLst/>
          </a:prstGeom>
          <a:solidFill>
            <a:srgbClr val="4ADE80">
              <a:alpha val="6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074920" y="258775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數字猜測遊戲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4069080" cy="2148840"/>
          </a:xfrm>
          <a:prstGeom prst="roundRect">
            <a:avLst>
              <a:gd name="adj" fmla="val 4255"/>
            </a:avLst>
          </a:prstGeom>
          <a:solidFill>
            <a:srgbClr val="2E3568"/>
          </a:solidFill>
          <a:ln w="10160">
            <a:solidFill>
              <a:srgbClr val="F472B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365760" y="3273552"/>
            <a:ext cx="4069080" cy="402336"/>
          </a:xfrm>
          <a:prstGeom prst="roundRect">
            <a:avLst>
              <a:gd name="adj" fmla="val 22727"/>
            </a:avLst>
          </a:prstGeom>
          <a:solidFill>
            <a:srgbClr val="F472B6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75488" y="3319272"/>
            <a:ext cx="3849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互動命令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30352" y="3785616"/>
            <a:ext cx="164592" cy="164592"/>
          </a:xfrm>
          <a:prstGeom prst="oval">
            <a:avLst/>
          </a:prstGeom>
          <a:solidFill>
            <a:srgbClr val="F472B6">
              <a:alpha val="60000"/>
            </a:srgbClr>
          </a:solidFill>
          <a:ln w="12700">
            <a:solidFill>
              <a:srgbClr val="F472B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77240" y="3721608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!hug — 擁抱對方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30352" y="4178808"/>
            <a:ext cx="164592" cy="164592"/>
          </a:xfrm>
          <a:prstGeom prst="oval">
            <a:avLst/>
          </a:prstGeom>
          <a:solidFill>
            <a:srgbClr val="F472B6">
              <a:alpha val="60000"/>
            </a:srgbClr>
          </a:solidFill>
          <a:ln w="12700">
            <a:solidFill>
              <a:srgbClr val="F472B6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77240" y="411480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!pat — 拍拍對方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30352" y="4572000"/>
            <a:ext cx="164592" cy="164592"/>
          </a:xfrm>
          <a:prstGeom prst="oval">
            <a:avLst/>
          </a:prstGeom>
          <a:solidFill>
            <a:srgbClr val="F472B6">
              <a:alpha val="60000"/>
            </a:srgbClr>
          </a:solidFill>
          <a:ln w="12700">
            <a:solidFill>
              <a:srgbClr val="F472B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77240" y="450799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!dance — 跳舞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30352" y="4965192"/>
            <a:ext cx="164592" cy="164592"/>
          </a:xfrm>
          <a:prstGeom prst="oval">
            <a:avLst/>
          </a:prstGeom>
          <a:solidFill>
            <a:srgbClr val="F472B6">
              <a:alpha val="60000"/>
            </a:srgbClr>
          </a:solidFill>
          <a:ln w="12700">
            <a:solidFill>
              <a:srgbClr val="F472B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77240" y="4901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 @ 指定對象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663440" y="3273552"/>
            <a:ext cx="4069080" cy="2148840"/>
          </a:xfrm>
          <a:prstGeom prst="roundRect">
            <a:avLst>
              <a:gd name="adj" fmla="val 4255"/>
            </a:avLst>
          </a:prstGeom>
          <a:solidFill>
            <a:srgbClr val="2E3568"/>
          </a:solidFill>
          <a:ln w="10160">
            <a:solidFill>
              <a:srgbClr val="F9731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4663440" y="3273552"/>
            <a:ext cx="4069080" cy="402336"/>
          </a:xfrm>
          <a:prstGeom prst="roundRect">
            <a:avLst>
              <a:gd name="adj" fmla="val 22727"/>
            </a:avLst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773168" y="3319272"/>
            <a:ext cx="3849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️  管理工具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828032" y="3785616"/>
            <a:ext cx="164592" cy="164592"/>
          </a:xfrm>
          <a:prstGeom prst="oval">
            <a:avLst/>
          </a:prstGeom>
          <a:solidFill>
            <a:srgbClr val="F97316">
              <a:alpha val="60000"/>
            </a:srgbClr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074920" y="3721608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歡迎／離開訊息設定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828032" y="4178808"/>
            <a:ext cx="164592" cy="164592"/>
          </a:xfrm>
          <a:prstGeom prst="oval">
            <a:avLst/>
          </a:prstGeom>
          <a:solidFill>
            <a:srgbClr val="F97316">
              <a:alpha val="60000"/>
            </a:srgbClr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074920" y="411480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自定義命令建立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828032" y="4572000"/>
            <a:ext cx="164592" cy="164592"/>
          </a:xfrm>
          <a:prstGeom prst="oval">
            <a:avLst/>
          </a:prstGeom>
          <a:solidFill>
            <a:srgbClr val="F97316">
              <a:alpha val="60000"/>
            </a:srgbClr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074920" y="450799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管理操作日誌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828032" y="4965192"/>
            <a:ext cx="164592" cy="164592"/>
          </a:xfrm>
          <a:prstGeom prst="oval">
            <a:avLst/>
          </a:prstGeom>
          <a:solidFill>
            <a:srgbClr val="F97316">
              <a:alpha val="60000"/>
            </a:srgbClr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074920" y="4901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用戶數據備份與清理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專案介紹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2E3568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09728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9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 subaso-俗北ㄙㄡˊ？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1572768"/>
            <a:ext cx="3749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一款部署在 Discord 的 AI 聊天機器人，透過本地 Ollama AI 引擎提供智能對話服務。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只在私信（DM）中運作，無需付費 API，資料完全保留本地。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 5 種 AI 角色切換、5 種語言、連續對話，以及遊戲互動與管理員工具。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65960" cy="1600200"/>
          </a:xfrm>
          <a:prstGeom prst="roundRect">
            <a:avLst>
              <a:gd name="adj" fmla="val 5714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303520" y="1234440"/>
            <a:ext cx="685800" cy="685800"/>
          </a:xfrm>
          <a:prstGeom prst="oval">
            <a:avLst/>
          </a:prstGeom>
          <a:solidFill>
            <a:srgbClr val="7C6AF7">
              <a:alpha val="30000"/>
            </a:srgbClr>
          </a:solidFill>
          <a:ln w="12700">
            <a:solidFill>
              <a:srgbClr val="7C6AF7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303520" y="12344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54880" y="201168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角色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12280" y="1097280"/>
            <a:ext cx="1965960" cy="1600200"/>
          </a:xfrm>
          <a:prstGeom prst="roundRect">
            <a:avLst>
              <a:gd name="adj" fmla="val 5714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452360" y="1234440"/>
            <a:ext cx="685800" cy="685800"/>
          </a:xfrm>
          <a:prstGeom prst="oval">
            <a:avLst/>
          </a:prstGeom>
          <a:solidFill>
            <a:srgbClr val="F9C74F">
              <a:alpha val="30000"/>
            </a:srgbClr>
          </a:solidFill>
          <a:ln w="12700">
            <a:solidFill>
              <a:srgbClr val="F9C74F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452360" y="12344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03720" y="201168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語言支援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2926080"/>
            <a:ext cx="1965960" cy="1600200"/>
          </a:xfrm>
          <a:prstGeom prst="roundRect">
            <a:avLst>
              <a:gd name="adj" fmla="val 5714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303520" y="3063240"/>
            <a:ext cx="685800" cy="685800"/>
          </a:xfrm>
          <a:prstGeom prst="oval">
            <a:avLst/>
          </a:prstGeom>
          <a:solidFill>
            <a:srgbClr val="4ADE80">
              <a:alpha val="30000"/>
            </a:srgbClr>
          </a:solidFill>
          <a:ln w="12700">
            <a:solidFill>
              <a:srgbClr val="4ADE80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303520" y="3063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54880" y="384048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遊戲模式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12280" y="2926080"/>
            <a:ext cx="1965960" cy="1600200"/>
          </a:xfrm>
          <a:prstGeom prst="roundRect">
            <a:avLst>
              <a:gd name="adj" fmla="val 5714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452360" y="3063240"/>
            <a:ext cx="685800" cy="685800"/>
          </a:xfrm>
          <a:prstGeom prst="oval">
            <a:avLst/>
          </a:prstGeom>
          <a:solidFill>
            <a:srgbClr val="22D3EE">
              <a:alpha val="30000"/>
            </a:srgbClr>
          </a:solidFill>
          <a:ln w="12700">
            <a:solidFill>
              <a:srgbClr val="22D3EE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52360" y="30632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903720" y="384048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本地隱私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核心功能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 Features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2E3568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5488" y="1143000"/>
            <a:ext cx="457200" cy="457200"/>
          </a:xfrm>
          <a:prstGeom prst="oval">
            <a:avLst/>
          </a:prstGeom>
          <a:solidFill>
            <a:srgbClr val="7C6AF7">
              <a:alpha val="40000"/>
            </a:srgbClr>
          </a:solidFill>
          <a:ln w="12700">
            <a:solidFill>
              <a:srgbClr val="7C6AF7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75488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/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連續對話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" y="1645920"/>
            <a:ext cx="2514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記住歷史，支援多輪交互，默認保留最近 10 輪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00584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2E3568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355848" y="1143000"/>
            <a:ext cx="457200" cy="457200"/>
          </a:xfrm>
          <a:prstGeom prst="oval">
            <a:avLst/>
          </a:prstGeom>
          <a:solidFill>
            <a:srgbClr val="F9C74F">
              <a:alpha val="40000"/>
            </a:srgbClr>
          </a:solidFill>
          <a:ln w="1270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355848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WORLD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913632" y="1115568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多語言支援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55848" y="1645920"/>
            <a:ext cx="2514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繁中・英・日・韓・西班牙文，!lan 一鍵切換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2E3568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236208" y="1143000"/>
            <a:ext cx="457200" cy="457200"/>
          </a:xfrm>
          <a:prstGeom prst="oval">
            <a:avLst/>
          </a:prstGeom>
          <a:solidFill>
            <a:srgbClr val="4ADE80">
              <a:alpha val="40000"/>
            </a:srgbClr>
          </a:solidFill>
          <a:ln w="12700">
            <a:solidFill>
              <a:srgbClr val="4ADE80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236208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/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793992" y="1115568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數據持久保存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1645920"/>
            <a:ext cx="2514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角色、語言偏好與對話記錄自動存入 user_data.json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274320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2E3568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75488" y="2880360"/>
            <a:ext cx="457200" cy="457200"/>
          </a:xfrm>
          <a:prstGeom prst="oval">
            <a:avLst/>
          </a:prstGeom>
          <a:solidFill>
            <a:srgbClr val="F97316">
              <a:alpha val="40000"/>
            </a:srgbClr>
          </a:solidFill>
          <a:ln w="12700">
            <a:solidFill>
              <a:srgbClr val="F9731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548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/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033272" y="2852928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實時版本更新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5488" y="3383280"/>
            <a:ext cx="2514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!admin update 讓所有用戶 DM 立即收到通知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46120" y="274320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2E3568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355848" y="2880360"/>
            <a:ext cx="457200" cy="457200"/>
          </a:xfrm>
          <a:prstGeom prst="oval">
            <a:avLst/>
          </a:prstGeom>
          <a:solidFill>
            <a:srgbClr val="22D3EE">
              <a:alpha val="40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35584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/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3913632" y="2852928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AI 引擎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355848" y="3383280"/>
            <a:ext cx="2514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本地運行，零成本，資料不離開本機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26480" y="274320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2E3568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36208" y="2880360"/>
            <a:ext cx="457200" cy="457200"/>
          </a:xfrm>
          <a:prstGeom prst="oval">
            <a:avLst/>
          </a:prstGeom>
          <a:solidFill>
            <a:srgbClr val="F472B6">
              <a:alpha val="40000"/>
            </a:srgbClr>
          </a:solidFill>
          <a:ln w="12700">
            <a:solidFill>
              <a:srgbClr val="F472B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2362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/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6793992" y="2852928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歡迎新成員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236208" y="3383280"/>
            <a:ext cx="2514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偵測成員加入，自動在歡迎頻道發送問候訊息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 種 AI 角色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Personality Roles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2E3568"/>
          </a:solidFill>
          <a:ln w="10160">
            <a:solidFill>
              <a:srgbClr val="7C6AF7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170432"/>
            <a:ext cx="438912" cy="438912"/>
          </a:xfrm>
          <a:prstGeom prst="oval">
            <a:avLst/>
          </a:prstGeom>
          <a:solidFill>
            <a:srgbClr val="7C6AF7">
              <a:alpha val="45000"/>
            </a:srgbClr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02920" y="11704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/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51560" y="10789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閒談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142646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Casual Chat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377440" y="1115568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友善幽默的日常聊天夥伴，自然對話、表情豐富，適合娛樂放鬆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1170432"/>
            <a:ext cx="1298448" cy="292608"/>
          </a:xfrm>
          <a:prstGeom prst="roundRect">
            <a:avLst>
              <a:gd name="adj" fmla="val 18750"/>
            </a:avLst>
          </a:prstGeom>
          <a:solidFill>
            <a:srgbClr val="7C6AF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583680" y="1170432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!mode 閒談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02920" y="2039112"/>
            <a:ext cx="438912" cy="438912"/>
          </a:xfrm>
          <a:prstGeom prst="oval">
            <a:avLst/>
          </a:prstGeom>
          <a:solidFill>
            <a:srgbClr val="F9C74F">
              <a:alpha val="45000"/>
            </a:srgbClr>
          </a:solidFill>
          <a:ln w="12700">
            <a:solidFill>
              <a:srgbClr val="F9C74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203911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/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51560" y="194767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數理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51560" y="229514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&amp; Science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377440" y="1984248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邏輯清晰嚴謹，逐步推導講解數學物理化學公式過程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83680" y="2039112"/>
            <a:ext cx="1298448" cy="292608"/>
          </a:xfrm>
          <a:prstGeom prst="roundRect">
            <a:avLst>
              <a:gd name="adj" fmla="val 18750"/>
            </a:avLst>
          </a:prstGeom>
          <a:solidFill>
            <a:srgbClr val="F9C74F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83680" y="2039112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!mode 數理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274320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2E3568"/>
          </a:solidFill>
          <a:ln w="10160">
            <a:solidFill>
              <a:srgbClr val="4ADE80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02920" y="2907792"/>
            <a:ext cx="438912" cy="438912"/>
          </a:xfrm>
          <a:prstGeom prst="oval">
            <a:avLst/>
          </a:prstGeom>
          <a:solidFill>
            <a:srgbClr val="4ADE80">
              <a:alpha val="45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02920" y="290779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/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051560" y="2816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語文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51560" y="31638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377440" y="2852928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深思熟慮文學感強，語法寫作文學分析，例子豐富逐層遞進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83680" y="2907792"/>
            <a:ext cx="1298448" cy="292608"/>
          </a:xfrm>
          <a:prstGeom prst="roundRect">
            <a:avLst>
              <a:gd name="adj" fmla="val 18750"/>
            </a:avLst>
          </a:prstGeom>
          <a:solidFill>
            <a:srgbClr val="4ADE80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583680" y="2907792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!mode 語文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65760" y="361188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2E3568"/>
          </a:solidFill>
          <a:ln w="10160">
            <a:solidFill>
              <a:srgbClr val="22D3EE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02920" y="3776472"/>
            <a:ext cx="438912" cy="438912"/>
          </a:xfrm>
          <a:prstGeom prst="oval">
            <a:avLst/>
          </a:prstGeom>
          <a:solidFill>
            <a:srgbClr val="22D3EE">
              <a:alpha val="45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02920" y="37764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/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51560" y="368503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51560" y="403250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377440" y="3721608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實用技術導向，編程除錯，提供可執行代碼示例與最佳實踐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583680" y="3776472"/>
            <a:ext cx="1298448" cy="292608"/>
          </a:xfrm>
          <a:prstGeom prst="roundRect">
            <a:avLst>
              <a:gd name="adj" fmla="val 1875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583680" y="3776472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!mode 程式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5760" y="448056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2E3568"/>
          </a:solidFill>
          <a:ln w="10160">
            <a:solidFill>
              <a:srgbClr val="F9731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502920" y="4645152"/>
            <a:ext cx="438912" cy="438912"/>
          </a:xfrm>
          <a:prstGeom prst="oval">
            <a:avLst/>
          </a:prstGeom>
          <a:solidFill>
            <a:srgbClr val="F97316">
              <a:alpha val="45000"/>
            </a:srgbClr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02920" y="46451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/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1051560" y="455371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家務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51560" y="490118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377440" y="4590288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貼心實用，烹飪清潔整理建議，步驟清晰實用生活技巧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583680" y="4645152"/>
            <a:ext cx="1298448" cy="292608"/>
          </a:xfrm>
          <a:prstGeom prst="roundRect">
            <a:avLst>
              <a:gd name="adj" fmla="val 18750"/>
            </a:avLst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583680" y="4645152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!mode 家務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多語言支援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Support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8412480" cy="704088"/>
          </a:xfrm>
          <a:prstGeom prst="roundRect">
            <a:avLst>
              <a:gd name="adj" fmla="val 12987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143000"/>
            <a:ext cx="429768" cy="429768"/>
          </a:xfrm>
          <a:prstGeom prst="oval">
            <a:avLst/>
          </a:prstGeom>
          <a:solidFill>
            <a:srgbClr val="F87171">
              <a:alpha val="45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02920" y="1115568"/>
            <a:ext cx="429768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TW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10972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繁體中文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51560" y="1399032"/>
            <a:ext cx="1234440" cy="228600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51560" y="139903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!lan chinese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23160" y="1115568"/>
            <a:ext cx="6172200" cy="457200"/>
          </a:xfrm>
          <a:prstGeom prst="roundRect">
            <a:avLst>
              <a:gd name="adj" fmla="val 20000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60320" y="1133856"/>
            <a:ext cx="5897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你好！有什麼我可以幫助你的嗎？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1801368"/>
            <a:ext cx="8412480" cy="704088"/>
          </a:xfrm>
          <a:prstGeom prst="roundRect">
            <a:avLst>
              <a:gd name="adj" fmla="val 12987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02920" y="1938528"/>
            <a:ext cx="429768" cy="429768"/>
          </a:xfrm>
          <a:prstGeom prst="oval">
            <a:avLst/>
          </a:prstGeom>
          <a:solidFill>
            <a:srgbClr val="22D3EE">
              <a:alpha val="45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1911096"/>
            <a:ext cx="429768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GB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189280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51560" y="2194560"/>
            <a:ext cx="1234440" cy="228600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51560" y="21945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!lan english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423160" y="1911096"/>
            <a:ext cx="6172200" cy="457200"/>
          </a:xfrm>
          <a:prstGeom prst="roundRect">
            <a:avLst>
              <a:gd name="adj" fmla="val 20000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560320" y="1929384"/>
            <a:ext cx="5897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 How can I assist you today?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2596896"/>
            <a:ext cx="8412480" cy="704088"/>
          </a:xfrm>
          <a:prstGeom prst="roundRect">
            <a:avLst>
              <a:gd name="adj" fmla="val 12987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02920" y="2734056"/>
            <a:ext cx="429768" cy="429768"/>
          </a:xfrm>
          <a:prstGeom prst="oval">
            <a:avLst/>
          </a:prstGeom>
          <a:solidFill>
            <a:srgbClr val="7C6AF7">
              <a:alpha val="45000"/>
            </a:srgbClr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02920" y="2706624"/>
            <a:ext cx="429768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JP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51560" y="26883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日本語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051560" y="2990088"/>
            <a:ext cx="1234440" cy="228600"/>
          </a:xfrm>
          <a:prstGeom prst="roundRect">
            <a:avLst>
              <a:gd name="adj" fmla="val 20000"/>
            </a:avLst>
          </a:prstGeom>
          <a:solidFill>
            <a:srgbClr val="7C6AF7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51560" y="2990088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!lan japanese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423160" y="2706624"/>
            <a:ext cx="6172200" cy="457200"/>
          </a:xfrm>
          <a:prstGeom prst="roundRect">
            <a:avLst>
              <a:gd name="adj" fmla="val 20000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560320" y="2724912"/>
            <a:ext cx="5897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こんにちは！何かお手伝いできますか？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65760" y="3392424"/>
            <a:ext cx="8412480" cy="704088"/>
          </a:xfrm>
          <a:prstGeom prst="roundRect">
            <a:avLst>
              <a:gd name="adj" fmla="val 12987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02920" y="3529584"/>
            <a:ext cx="429768" cy="429768"/>
          </a:xfrm>
          <a:prstGeom prst="oval">
            <a:avLst/>
          </a:prstGeom>
          <a:solidFill>
            <a:srgbClr val="4ADE80">
              <a:alpha val="45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02920" y="3502152"/>
            <a:ext cx="429768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KR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51560" y="348386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한국어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051560" y="3785616"/>
            <a:ext cx="1234440" cy="228600"/>
          </a:xfrm>
          <a:prstGeom prst="roundRect">
            <a:avLst>
              <a:gd name="adj" fmla="val 20000"/>
            </a:avLst>
          </a:prstGeom>
          <a:solidFill>
            <a:srgbClr val="4ADE80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051560" y="3785616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!lan korean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423160" y="3502152"/>
            <a:ext cx="6172200" cy="457200"/>
          </a:xfrm>
          <a:prstGeom prst="roundRect">
            <a:avLst>
              <a:gd name="adj" fmla="val 20000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2560320" y="3520440"/>
            <a:ext cx="5897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안녕하세요！어떻게 도와드릴까요？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65760" y="4187952"/>
            <a:ext cx="8412480" cy="704088"/>
          </a:xfrm>
          <a:prstGeom prst="roundRect">
            <a:avLst>
              <a:gd name="adj" fmla="val 12987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502920" y="4325112"/>
            <a:ext cx="429768" cy="429768"/>
          </a:xfrm>
          <a:prstGeom prst="oval">
            <a:avLst/>
          </a:prstGeom>
          <a:solidFill>
            <a:srgbClr val="F9C74F">
              <a:alpha val="45000"/>
            </a:srgbClr>
          </a:solidFill>
          <a:ln w="12700">
            <a:solidFill>
              <a:srgbClr val="F9C74F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02920" y="4297680"/>
            <a:ext cx="429768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ES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051560" y="42793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051560" y="4581144"/>
            <a:ext cx="1234440" cy="228600"/>
          </a:xfrm>
          <a:prstGeom prst="roundRect">
            <a:avLst>
              <a:gd name="adj" fmla="val 20000"/>
            </a:avLst>
          </a:prstGeom>
          <a:solidFill>
            <a:srgbClr val="F9C74F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051560" y="4581144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!lan spanish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423160" y="4297680"/>
            <a:ext cx="6172200" cy="457200"/>
          </a:xfrm>
          <a:prstGeom prst="roundRect">
            <a:avLst>
              <a:gd name="adj" fmla="val 20000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560320" y="4315968"/>
            <a:ext cx="5897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¡Hola! ¿En qué puedo ayudarte hoy?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娛樂遊戲 +  互動命令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&amp; Interactive Commands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114800" cy="1234440"/>
          </a:xfrm>
          <a:prstGeom prst="roundRect">
            <a:avLst>
              <a:gd name="adj" fmla="val 7407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5488" y="1325880"/>
            <a:ext cx="457200" cy="457200"/>
          </a:xfrm>
          <a:prstGeom prst="oval">
            <a:avLst/>
          </a:prstGeom>
          <a:solidFill>
            <a:srgbClr val="F9C74F">
              <a:alpha val="40000"/>
            </a:srgbClr>
          </a:solidFill>
          <a:ln w="12700">
            <a:solidFill>
              <a:srgbClr val="F9C74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75488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/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24128" y="1033272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Pokémon 猜謎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24128" y="1389888"/>
            <a:ext cx="1188720" cy="246888"/>
          </a:xfrm>
          <a:prstGeom prst="roundRect">
            <a:avLst>
              <a:gd name="adj" fmla="val 37037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69848" y="1389888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!pokemon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24128" y="1682496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猜測 Pokémon 名字，答對得分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答題：!guess [名字]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17720" y="960120"/>
            <a:ext cx="4114800" cy="1234440"/>
          </a:xfrm>
          <a:prstGeom prst="roundRect">
            <a:avLst>
              <a:gd name="adj" fmla="val 7407"/>
            </a:avLst>
          </a:prstGeom>
          <a:solidFill>
            <a:srgbClr val="2E3568"/>
          </a:solidFill>
          <a:ln w="10160">
            <a:solidFill>
              <a:srgbClr val="22D3EE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727448" y="1325880"/>
            <a:ext cx="457200" cy="457200"/>
          </a:xfrm>
          <a:prstGeom prst="oval">
            <a:avLst/>
          </a:prstGeom>
          <a:solidFill>
            <a:srgbClr val="22D3EE">
              <a:alpha val="40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27448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/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76088" y="1033272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 知識競賽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276088" y="1389888"/>
            <a:ext cx="1188720" cy="246888"/>
          </a:xfrm>
          <a:prstGeom prst="roundRect">
            <a:avLst>
              <a:gd name="adj" fmla="val 37037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21808" y="1389888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!trivia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276088" y="1682496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回答各種知識問答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等待題目直接輸入答案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2313432"/>
            <a:ext cx="4114800" cy="1234440"/>
          </a:xfrm>
          <a:prstGeom prst="roundRect">
            <a:avLst>
              <a:gd name="adj" fmla="val 7407"/>
            </a:avLst>
          </a:prstGeom>
          <a:solidFill>
            <a:srgbClr val="2E3568"/>
          </a:solidFill>
          <a:ln w="10160">
            <a:solidFill>
              <a:srgbClr val="F472B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75488" y="2679192"/>
            <a:ext cx="457200" cy="457200"/>
          </a:xfrm>
          <a:prstGeom prst="oval">
            <a:avLst/>
          </a:prstGeom>
          <a:solidFill>
            <a:srgbClr val="F472B6">
              <a:alpha val="40000"/>
            </a:srgbClr>
          </a:solidFill>
          <a:ln w="12700">
            <a:solidFill>
              <a:srgbClr val="F472B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75488" y="2679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/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24128" y="2386584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動漫角色猜謎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24128" y="2743200"/>
            <a:ext cx="1188720" cy="246888"/>
          </a:xfrm>
          <a:prstGeom prst="roundRect">
            <a:avLst>
              <a:gd name="adj" fmla="val 37037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69848" y="2743200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!anime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24128" y="3035808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猜猜看是哪個動漫角色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答題：!guess_char [名字]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17720" y="2313432"/>
            <a:ext cx="4114800" cy="1234440"/>
          </a:xfrm>
          <a:prstGeom prst="roundRect">
            <a:avLst>
              <a:gd name="adj" fmla="val 7407"/>
            </a:avLst>
          </a:prstGeom>
          <a:solidFill>
            <a:srgbClr val="2E3568"/>
          </a:solidFill>
          <a:ln w="10160">
            <a:solidFill>
              <a:srgbClr val="4ADE80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727448" y="2679192"/>
            <a:ext cx="457200" cy="457200"/>
          </a:xfrm>
          <a:prstGeom prst="oval">
            <a:avLst/>
          </a:prstGeom>
          <a:solidFill>
            <a:srgbClr val="4ADE80">
              <a:alpha val="4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727448" y="2679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/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276088" y="2386584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數字猜測遊戲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276088" y="2743200"/>
            <a:ext cx="1188720" cy="246888"/>
          </a:xfrm>
          <a:prstGeom prst="roundRect">
            <a:avLst>
              <a:gd name="adj" fmla="val 37037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321808" y="2743200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!number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276088" y="3035808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猜系統隨機生成的數字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答題：!guess_number [數字]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3703320"/>
            <a:ext cx="1965960" cy="713232"/>
          </a:xfrm>
          <a:prstGeom prst="roundRect">
            <a:avLst>
              <a:gd name="adj" fmla="val 12821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02920" y="376732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!score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405079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查看累計遊戲分數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468880" y="3657600"/>
            <a:ext cx="6309360" cy="804672"/>
          </a:xfrm>
          <a:prstGeom prst="roundRect">
            <a:avLst>
              <a:gd name="adj" fmla="val 11364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633472" y="370332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互動命令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514600" y="4005072"/>
            <a:ext cx="1993392" cy="384048"/>
          </a:xfrm>
          <a:prstGeom prst="roundRect">
            <a:avLst>
              <a:gd name="adj" fmla="val 23810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2578608" y="4023360"/>
            <a:ext cx="18653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!hug [@用戶]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78608" y="4206240"/>
            <a:ext cx="18653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擁抱對方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617720" y="4005072"/>
            <a:ext cx="1993392" cy="384048"/>
          </a:xfrm>
          <a:prstGeom prst="roundRect">
            <a:avLst>
              <a:gd name="adj" fmla="val 23810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4681728" y="4023360"/>
            <a:ext cx="18653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!pat [@用戶]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681728" y="4206240"/>
            <a:ext cx="18653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拍拍對方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720840" y="4005072"/>
            <a:ext cx="1993392" cy="384048"/>
          </a:xfrm>
          <a:prstGeom prst="roundRect">
            <a:avLst>
              <a:gd name="adj" fmla="val 23810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6784848" y="4023360"/>
            <a:ext cx="18653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!dance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784848" y="4206240"/>
            <a:ext cx="18653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跳起舞來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用戶命令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Commands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8412480" cy="384048"/>
          </a:xfrm>
          <a:prstGeom prst="roundRect">
            <a:avLst>
              <a:gd name="adj" fmla="val 23810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5488" y="1060704"/>
            <a:ext cx="2331720" cy="256032"/>
          </a:xfrm>
          <a:prstGeom prst="roundRect">
            <a:avLst>
              <a:gd name="adj" fmla="val 35714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" y="1060704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!ask 問題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907792" y="106070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詢問 AI 問題，支援連續對話，AI 記住上下文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882128" y="1078992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9C74F"/>
                </a:solidFill>
              </a:rPr>
              <a:t>⭐⭐⭐⭐⭐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453896"/>
            <a:ext cx="8412480" cy="384048"/>
          </a:xfrm>
          <a:prstGeom prst="roundRect">
            <a:avLst>
              <a:gd name="adj" fmla="val 23810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75488" y="1508760"/>
            <a:ext cx="2331720" cy="256032"/>
          </a:xfrm>
          <a:prstGeom prst="roundRect">
            <a:avLst>
              <a:gd name="adj" fmla="val 35714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" y="150876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!mode [角色]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07792" y="1508760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查看/切換 AI 角色（閒談/數理/語文/程式/家務，支援英文別名）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82128" y="1527048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9C74F"/>
                </a:solidFill>
              </a:rPr>
              <a:t>⭐⭐⭐⭐⭐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901952"/>
            <a:ext cx="8412480" cy="384048"/>
          </a:xfrm>
          <a:prstGeom prst="roundRect">
            <a:avLst>
              <a:gd name="adj" fmla="val 23810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5488" y="1956816"/>
            <a:ext cx="2331720" cy="256032"/>
          </a:xfrm>
          <a:prstGeom prst="roundRect">
            <a:avLst>
              <a:gd name="adj" fmla="val 35714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21208" y="1956816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!lan [語言]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07792" y="195681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查看/切換回答語言（chinese/english/japanese/korean/spanish）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82128" y="1975104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9C74F"/>
                </a:solidFill>
              </a:rPr>
              <a:t>⭐⭐⭐⭐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2350008"/>
            <a:ext cx="8412480" cy="384048"/>
          </a:xfrm>
          <a:prstGeom prst="roundRect">
            <a:avLst>
              <a:gd name="adj" fmla="val 23810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75488" y="2404872"/>
            <a:ext cx="2331720" cy="256032"/>
          </a:xfrm>
          <a:prstGeom prst="roundRect">
            <a:avLst>
              <a:gd name="adj" fmla="val 35714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21208" y="24048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!clear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07792" y="240487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清除當前用戶的對話歷史記錄，並保存到文件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882128" y="242316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9C74F"/>
                </a:solidFill>
              </a:rPr>
              <a:t>⭐⭐⭐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798064"/>
            <a:ext cx="8412480" cy="384048"/>
          </a:xfrm>
          <a:prstGeom prst="roundRect">
            <a:avLst>
              <a:gd name="adj" fmla="val 23810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75488" y="2852928"/>
            <a:ext cx="2331720" cy="256032"/>
          </a:xfrm>
          <a:prstGeom prst="roundRect">
            <a:avLst>
              <a:gd name="adj" fmla="val 35714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21208" y="2852928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!pokemon / !trivia / !anime / !number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907792" y="285292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啟動對應遊戲；用 !guess / !guess_char / !guess_number 回答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882128" y="2871216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9C74F"/>
                </a:solidFill>
              </a:rPr>
              <a:t>⭐⭐⭐⭐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3246120"/>
            <a:ext cx="8412480" cy="384048"/>
          </a:xfrm>
          <a:prstGeom prst="roundRect">
            <a:avLst>
              <a:gd name="adj" fmla="val 23810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475488" y="3300984"/>
            <a:ext cx="2331720" cy="256032"/>
          </a:xfrm>
          <a:prstGeom prst="roundRect">
            <a:avLst>
              <a:gd name="adj" fmla="val 35714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21208" y="3300984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!hug / !pat / !dance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07792" y="330098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互動表情動作，!hug 和 !pat 可以 @提及 對象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882128" y="3319272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9C74F"/>
                </a:solidFill>
              </a:rPr>
              <a:t>⭐⭐⭐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5760" y="3694176"/>
            <a:ext cx="8412480" cy="384048"/>
          </a:xfrm>
          <a:prstGeom prst="roundRect">
            <a:avLst>
              <a:gd name="adj" fmla="val 23810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475488" y="3749040"/>
            <a:ext cx="2331720" cy="256032"/>
          </a:xfrm>
          <a:prstGeom prst="roundRect">
            <a:avLst>
              <a:gd name="adj" fmla="val 35714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21208" y="374904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!guide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907792" y="3749040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顯示 5 種 AI 角色快速概覽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82128" y="3767328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9C74F"/>
                </a:solidFill>
              </a:rPr>
              <a:t>⭐⭐⭐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5760" y="4142232"/>
            <a:ext cx="8412480" cy="384048"/>
          </a:xfrm>
          <a:prstGeom prst="roundRect">
            <a:avLst>
              <a:gd name="adj" fmla="val 23810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475488" y="4197096"/>
            <a:ext cx="2331720" cy="256032"/>
          </a:xfrm>
          <a:prstGeom prst="roundRect">
            <a:avLst>
              <a:gd name="adj" fmla="val 35714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21208" y="4197096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!help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2907792" y="419709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顯示完整命令列表（AI、遊戲、管理員命令）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882128" y="4215384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9C74F"/>
                </a:solidFill>
              </a:rPr>
              <a:t>⭐⭐⭐⭐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5760" y="4590288"/>
            <a:ext cx="8412480" cy="384048"/>
          </a:xfrm>
          <a:prstGeom prst="roundRect">
            <a:avLst>
              <a:gd name="adj" fmla="val 23810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475488" y="4645152"/>
            <a:ext cx="2331720" cy="256032"/>
          </a:xfrm>
          <a:prstGeom prst="roundRect">
            <a:avLst>
              <a:gd name="adj" fmla="val 35714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521208" y="464515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!deleteall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2907792" y="464515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完整刪除所有設定、對話記錄及 Bot 發出的 DM（不可逆）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882128" y="4663440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9C74F"/>
                </a:solidFill>
              </a:rPr>
              <a:t>⭐⭐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‍ 管理員命令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Commands — ADMIN_IDS only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114800" cy="438912"/>
          </a:xfrm>
          <a:prstGeom prst="roundRect">
            <a:avLst>
              <a:gd name="adj" fmla="val 20833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29768" y="1042416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29768" y="10424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43000" y="1033272"/>
            <a:ext cx="178308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88720" y="103327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!admin stats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999232" y="102412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查看統計：總用戶數、在線伺服器數量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114800" cy="438912"/>
          </a:xfrm>
          <a:prstGeom prst="roundRect">
            <a:avLst>
              <a:gd name="adj" fmla="val 20833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727448" y="1042416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A89BF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727448" y="10424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紀錄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40680" y="1033272"/>
            <a:ext cx="178308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486400" y="103327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!admin logs [數量]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296912" y="102412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查看管理操作紀錄（預設 10 筆），顯示時間、動作、用戶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1435608"/>
            <a:ext cx="4114800" cy="438912"/>
          </a:xfrm>
          <a:prstGeom prst="roundRect">
            <a:avLst>
              <a:gd name="adj" fmla="val 20833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29768" y="1517904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4ADE80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29768" y="151790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歡迎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43000" y="1508760"/>
            <a:ext cx="178308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188720" y="15087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!admin welcome [訊息]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2999232" y="1499616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設定新成員加入伺服器時發送的歡迎訊息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1435608"/>
            <a:ext cx="4114800" cy="438912"/>
          </a:xfrm>
          <a:prstGeom prst="roundRect">
            <a:avLst>
              <a:gd name="adj" fmla="val 20833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727448" y="1517904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B0B8D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727448" y="151790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離開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40680" y="1508760"/>
            <a:ext cx="178308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486400" y="15087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!admin leave [訊息]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7296912" y="1499616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設定成員離開伺服器時發送的離開訊息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65760" y="1911096"/>
            <a:ext cx="4114800" cy="438912"/>
          </a:xfrm>
          <a:prstGeom prst="roundRect">
            <a:avLst>
              <a:gd name="adj" fmla="val 20833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29768" y="1993392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F9C74F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29768" y="19933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自訂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43000" y="1984248"/>
            <a:ext cx="178308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188720" y="198424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!admin custom add [命令] [回覆]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2999232" y="1975104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建立自定義命令，用戶輸入命令時 Bot 自動回覆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663440" y="1911096"/>
            <a:ext cx="4114800" cy="438912"/>
          </a:xfrm>
          <a:prstGeom prst="roundRect">
            <a:avLst>
              <a:gd name="adj" fmla="val 20833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4727448" y="1993392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F9C74F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727448" y="19933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自訂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1984248"/>
            <a:ext cx="178308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486400" y="198424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!admin custom list / delete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7296912" y="1975104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列出或刪除已建立的自定義命令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365760" y="2386584"/>
            <a:ext cx="4114800" cy="438912"/>
          </a:xfrm>
          <a:prstGeom prst="roundRect">
            <a:avLst>
              <a:gd name="adj" fmla="val 20833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429768" y="2468880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29768" y="24688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1143000" y="2459736"/>
            <a:ext cx="178308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1188720" y="2459736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!admin update [版本號]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2999232" y="2450592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向所有在線用戶的 DM 廣播版本更新通知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663440" y="2386584"/>
            <a:ext cx="4114800" cy="438912"/>
          </a:xfrm>
          <a:prstGeom prst="roundRect">
            <a:avLst>
              <a:gd name="adj" fmla="val 20833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727448" y="2468880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F87171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4727448" y="246888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440680" y="2459736"/>
            <a:ext cx="178308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5486400" y="2459736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!admin clear_user [ID]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296912" y="2450592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清除指定 Discord 用戶 ID 的所有角色/語言設定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65760" y="2862072"/>
            <a:ext cx="4114800" cy="438912"/>
          </a:xfrm>
          <a:prstGeom prst="roundRect">
            <a:avLst>
              <a:gd name="adj" fmla="val 20833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429768" y="2944368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F87171"/>
          </a:solidFill>
          <a:ln/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429768" y="294436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143000" y="2935224"/>
            <a:ext cx="178308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1188720" y="293522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!admin backup / restart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2999232" y="2926080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手動備份數據 / 關閉 Bot（需搭配外部進程管理器）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365760" y="4864608"/>
            <a:ext cx="8412480" cy="237744"/>
          </a:xfrm>
          <a:prstGeom prst="roundRect">
            <a:avLst>
              <a:gd name="adj" fmla="val 38462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502920" y="486460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️  在 設定.env 設置  ADMIN_IDS=你的Discord_ID  ，多個管理員以逗號分隔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系統架構 &amp; 技術棧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&amp;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" y="777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9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依賴套件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4114800" cy="475488"/>
          </a:xfrm>
          <a:prstGeom prst="roundRect">
            <a:avLst>
              <a:gd name="adj" fmla="val 19231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" y="1225296"/>
            <a:ext cx="256032" cy="256032"/>
          </a:xfrm>
          <a:prstGeom prst="oval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117957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138988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主程式語言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00400" y="120700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3.8+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664208"/>
            <a:ext cx="4114800" cy="475488"/>
          </a:xfrm>
          <a:prstGeom prst="roundRect">
            <a:avLst>
              <a:gd name="adj" fmla="val 19231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75488" y="1773936"/>
            <a:ext cx="256032" cy="256032"/>
          </a:xfrm>
          <a:prstGeom prst="oval">
            <a:avLst/>
          </a:prstGeom>
          <a:solidFill>
            <a:srgbClr val="5865F2"/>
          </a:solidFill>
          <a:ln w="12700">
            <a:solidFill>
              <a:srgbClr val="5865F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172821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discord.py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193852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 API 封裝庫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175564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2.0+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212848"/>
            <a:ext cx="4114800" cy="475488"/>
          </a:xfrm>
          <a:prstGeom prst="roundRect">
            <a:avLst>
              <a:gd name="adj" fmla="val 19231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5488" y="2322576"/>
            <a:ext cx="256032" cy="256032"/>
          </a:xfrm>
          <a:prstGeom prst="oval">
            <a:avLst/>
          </a:prstGeom>
          <a:solidFill>
            <a:srgbClr val="7C6AF7"/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2960" y="227685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48716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AI 引擎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00400" y="23042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2761488"/>
            <a:ext cx="4114800" cy="475488"/>
          </a:xfrm>
          <a:prstGeom prst="roundRect">
            <a:avLst>
              <a:gd name="adj" fmla="val 19231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5488" y="2871216"/>
            <a:ext cx="256032" cy="256032"/>
          </a:xfrm>
          <a:prstGeom prst="oval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22960" y="282549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httpx / aiohttp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303580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 HTTP 客戶端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00400" y="285292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4114800" cy="475488"/>
          </a:xfrm>
          <a:prstGeom prst="roundRect">
            <a:avLst>
              <a:gd name="adj" fmla="val 19231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75488" y="3419856"/>
            <a:ext cx="256032" cy="256032"/>
          </a:xfrm>
          <a:prstGeom prst="oval">
            <a:avLst/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22960" y="337413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python-dotenv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" y="3584448"/>
            <a:ext cx="2286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環境變數管理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200400" y="34015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3913632"/>
            <a:ext cx="4114800" cy="868680"/>
          </a:xfrm>
          <a:prstGeom prst="roundRect">
            <a:avLst>
              <a:gd name="adj" fmla="val 10526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48640" y="39776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9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系統需求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425196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CPU：雙核+  ·  RAM：8GB+（建議 16GB）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磁盤：15GB+（Ollama 模型空間）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663440" y="777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9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專案檔案結構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663440" y="1115568"/>
            <a:ext cx="4114800" cy="521208"/>
          </a:xfrm>
          <a:prstGeom prst="roundRect">
            <a:avLst>
              <a:gd name="adj" fmla="val 17544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4773168" y="1243584"/>
            <a:ext cx="256032" cy="256032"/>
          </a:xfrm>
          <a:prstGeom prst="oval">
            <a:avLst/>
          </a:prstGeom>
          <a:solidFill>
            <a:srgbClr val="7C6AF7"/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120640" y="1170432"/>
            <a:ext cx="3520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bot.py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120640" y="1408176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主程式（命令處理、AI 對話）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63440" y="1709928"/>
            <a:ext cx="4114800" cy="521208"/>
          </a:xfrm>
          <a:prstGeom prst="roundRect">
            <a:avLst>
              <a:gd name="adj" fmla="val 17544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4773168" y="1837944"/>
            <a:ext cx="256032" cy="256032"/>
          </a:xfrm>
          <a:prstGeom prst="oval">
            <a:avLst/>
          </a:prstGeom>
          <a:solidFill>
            <a:srgbClr val="B0B8D8"/>
          </a:solidFill>
          <a:ln w="12700">
            <a:solidFill>
              <a:srgbClr val="B0B8D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5120640" y="1764792"/>
            <a:ext cx="3520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prism_config.py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120640" y="2002536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全域設定、角色定義、語言設定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63440" y="2304288"/>
            <a:ext cx="4114800" cy="521208"/>
          </a:xfrm>
          <a:prstGeom prst="roundRect">
            <a:avLst>
              <a:gd name="adj" fmla="val 17544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4773168" y="2432304"/>
            <a:ext cx="256032" cy="256032"/>
          </a:xfrm>
          <a:prstGeom prst="oval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120640" y="2359152"/>
            <a:ext cx="3520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modules_games.py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120640" y="2596896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遊戲系統（4 種遊戲邏輯）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663440" y="2898648"/>
            <a:ext cx="4114800" cy="521208"/>
          </a:xfrm>
          <a:prstGeom prst="roundRect">
            <a:avLst>
              <a:gd name="adj" fmla="val 17544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773168" y="3026664"/>
            <a:ext cx="256032" cy="256032"/>
          </a:xfrm>
          <a:prstGeom prst="oval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5120640" y="2953512"/>
            <a:ext cx="3520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modules_admin.py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120640" y="3191256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管理員工具（日誌、自訂命令等）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663440" y="3493008"/>
            <a:ext cx="4114800" cy="521208"/>
          </a:xfrm>
          <a:prstGeom prst="roundRect">
            <a:avLst>
              <a:gd name="adj" fmla="val 17544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4773168" y="3621024"/>
            <a:ext cx="256032" cy="256032"/>
          </a:xfrm>
          <a:prstGeom prst="oval">
            <a:avLst/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5120640" y="3547872"/>
            <a:ext cx="3520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設定.env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120640" y="3785616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環境變數：Token、Model、Admin IDs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663440" y="4087368"/>
            <a:ext cx="4114800" cy="521208"/>
          </a:xfrm>
          <a:prstGeom prst="roundRect">
            <a:avLst>
              <a:gd name="adj" fmla="val 17544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4773168" y="4215384"/>
            <a:ext cx="256032" cy="256032"/>
          </a:xfrm>
          <a:prstGeom prst="oval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5120640" y="4142232"/>
            <a:ext cx="3520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user_data.json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120640" y="4379976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用戶資料儲存（自動生成）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完成的困難點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We Faced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2E3568"/>
          </a:solidFill>
          <a:ln w="10160">
            <a:solidFill>
              <a:srgbClr val="F87171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960120"/>
            <a:ext cx="4114800" cy="402336"/>
          </a:xfrm>
          <a:prstGeom prst="roundRect">
            <a:avLst>
              <a:gd name="adj" fmla="val 22727"/>
            </a:avLst>
          </a:prstGeom>
          <a:solidFill>
            <a:srgbClr val="F8717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75488" y="1014984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99669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/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70432" y="101498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非同步串接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" y="1417320"/>
            <a:ext cx="3895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Discord.py 使用 async/await 非同步架構，但 Ollama API 的呼叫方式需要額外處理 timeout 與 streaming，初期 Bot 常常在 AI 回應時卡住無法接收其他訊息。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" y="2304288"/>
            <a:ext cx="3895344" cy="566928"/>
          </a:xfrm>
          <a:prstGeom prst="roundRect">
            <a:avLst>
              <a:gd name="adj" fmla="val 16129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2331720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解法：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2514600"/>
            <a:ext cx="3712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改用 httpx.AsyncClient 搭配 timeout=None，讓 AI 運算期間不阻塞其他命令。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4709160" y="960120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2E3568"/>
          </a:solidFill>
          <a:ln w="10160">
            <a:solidFill>
              <a:srgbClr val="F9731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709160" y="960120"/>
            <a:ext cx="4114800" cy="402336"/>
          </a:xfrm>
          <a:prstGeom prst="roundRect">
            <a:avLst>
              <a:gd name="adj" fmla="val 22727"/>
            </a:avLst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818888" y="1014984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148072" y="99669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/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513832" y="101498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多用戶數據同步問題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18888" y="1417320"/>
            <a:ext cx="3895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多個用戶同時傳送訊息時，user_data.json 的讀寫會產生競爭條件（Race Condition），導致部分用戶的設定被覆蓋或遺失。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818888" y="2304288"/>
            <a:ext cx="3895344" cy="566928"/>
          </a:xfrm>
          <a:prstGeom prst="roundRect">
            <a:avLst>
              <a:gd name="adj" fmla="val 16129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910328" y="2331720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解法：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10328" y="2514600"/>
            <a:ext cx="3712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改為在每次操作後立即序列化寫入，並限制同時讀寫的時機，確保數據一致性。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365760" y="3081528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365760" y="3081528"/>
            <a:ext cx="4114800" cy="402336"/>
          </a:xfrm>
          <a:prstGeom prst="roundRect">
            <a:avLst>
              <a:gd name="adj" fmla="val 22727"/>
            </a:avLst>
          </a:prstGeom>
          <a:solidFill>
            <a:srgbClr val="F9C74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75488" y="3136392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672" y="311810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🪟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70432" y="313639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編碼相容性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75488" y="3538728"/>
            <a:ext cx="3895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繁體中文的 emoji 和特殊字元在 Windows 終端機預設為 CP950 編碼，導致 log 輸出亂碼甚至崩潰，在不同平台行為不一致。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75488" y="4425696"/>
            <a:ext cx="3895344" cy="566928"/>
          </a:xfrm>
          <a:prstGeom prst="roundRect">
            <a:avLst>
              <a:gd name="adj" fmla="val 16129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66928" y="4453128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解法：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" y="4636008"/>
            <a:ext cx="3712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在啟動時強制將 stdout/stderr 設為 UTF-8，並在所有檔案讀寫加入 encoding='utf-8'。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4709160" y="3081528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2E3568"/>
          </a:solidFill>
          <a:ln w="10160">
            <a:solidFill>
              <a:srgbClr val="7C6AF7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709160" y="3081528"/>
            <a:ext cx="4114800" cy="402336"/>
          </a:xfrm>
          <a:prstGeom prst="roundRect">
            <a:avLst>
              <a:gd name="adj" fmla="val 22727"/>
            </a:avLst>
          </a:prstGeom>
          <a:solidFill>
            <a:srgbClr val="7C6AF7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818888" y="3136392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48072" y="311810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/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513832" y="313639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如何使用 AI 輔助開發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818888" y="3538728"/>
            <a:ext cx="3895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沒有經驗寫 Discord Bot，許多 discord.py 的 API 用法、async 模式、以及 Ollama 整合方式都不熟悉，從零開始學習曲線很高。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818888" y="4425696"/>
            <a:ext cx="3895344" cy="566928"/>
          </a:xfrm>
          <a:prstGeom prst="roundRect">
            <a:avLst>
              <a:gd name="adj" fmla="val 16129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910328" y="4453128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解法：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910328" y="4636008"/>
            <a:ext cx="3712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Claude / ChatGPT 直接生成初始架構與範例程式碼，再逐段理解並修改成符合自己需求的版本，大幅縮短學習時間。</a:t>
            </a:r>
            <a:endParaRPr lang="en-US" sz="9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分工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Responsibilities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114800" cy="4114800"/>
          </a:xfrm>
          <a:prstGeom prst="roundRect">
            <a:avLst>
              <a:gd name="adj" fmla="val 2222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08760" y="1097280"/>
            <a:ext cx="914400" cy="914400"/>
          </a:xfrm>
          <a:prstGeom prst="oval">
            <a:avLst/>
          </a:prstGeom>
          <a:solidFill>
            <a:srgbClr val="7C6AF7">
              <a:alpha val="70000"/>
            </a:srgbClr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508760" y="1097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/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成員 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3840480" cy="292608"/>
          </a:xfrm>
          <a:prstGeom prst="roundRect">
            <a:avLst>
              <a:gd name="adj" fmla="val 25000"/>
            </a:avLst>
          </a:prstGeom>
          <a:solidFill>
            <a:srgbClr val="7C6AF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02920" y="2487168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主要負責：後端架構 &amp; AI 整合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871216"/>
            <a:ext cx="137160" cy="137160"/>
          </a:xfrm>
          <a:prstGeom prst="oval">
            <a:avLst/>
          </a:prstGeom>
          <a:solidFill>
            <a:srgbClr val="7C6AF7">
              <a:alpha val="60000"/>
            </a:srgbClr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04672" y="280720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bot.py 主程式架構設計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191256"/>
            <a:ext cx="137160" cy="137160"/>
          </a:xfrm>
          <a:prstGeom prst="oval">
            <a:avLst/>
          </a:prstGeom>
          <a:solidFill>
            <a:srgbClr val="7C6AF7">
              <a:alpha val="60000"/>
            </a:srgbClr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04672" y="312724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API 串接與非同步處理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511296"/>
            <a:ext cx="137160" cy="137160"/>
          </a:xfrm>
          <a:prstGeom prst="oval">
            <a:avLst/>
          </a:prstGeom>
          <a:solidFill>
            <a:srgbClr val="7C6AF7">
              <a:alpha val="60000"/>
            </a:srgbClr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04672" y="344728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角色系統（PERSONALITIES）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" y="3831336"/>
            <a:ext cx="137160" cy="137160"/>
          </a:xfrm>
          <a:prstGeom prst="oval">
            <a:avLst/>
          </a:prstGeom>
          <a:solidFill>
            <a:srgbClr val="7C6AF7">
              <a:alpha val="60000"/>
            </a:srgbClr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04672" y="376732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用戶數據讀寫（user_data.json）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4151376"/>
            <a:ext cx="137160" cy="137160"/>
          </a:xfrm>
          <a:prstGeom prst="oval">
            <a:avLst/>
          </a:prstGeom>
          <a:solidFill>
            <a:srgbClr val="7C6AF7">
              <a:alpha val="60000"/>
            </a:srgbClr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04672" y="40873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連續對話記憶機制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4471416"/>
            <a:ext cx="137160" cy="137160"/>
          </a:xfrm>
          <a:prstGeom prst="oval">
            <a:avLst/>
          </a:prstGeom>
          <a:solidFill>
            <a:srgbClr val="7C6AF7">
              <a:alpha val="60000"/>
            </a:srgbClr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04672" y="440740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多語言切換邏輯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960120"/>
            <a:ext cx="4114800" cy="4114800"/>
          </a:xfrm>
          <a:prstGeom prst="roundRect">
            <a:avLst>
              <a:gd name="adj" fmla="val 2222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806440" y="1097280"/>
            <a:ext cx="914400" cy="914400"/>
          </a:xfrm>
          <a:prstGeom prst="oval">
            <a:avLst/>
          </a:prstGeom>
          <a:solidFill>
            <a:srgbClr val="4ADE80">
              <a:alpha val="7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806440" y="1097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/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4754880" y="21031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成員 B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4800600" y="2487168"/>
            <a:ext cx="3840480" cy="292608"/>
          </a:xfrm>
          <a:prstGeom prst="roundRect">
            <a:avLst>
              <a:gd name="adj" fmla="val 25000"/>
            </a:avLst>
          </a:prstGeom>
          <a:solidFill>
            <a:srgbClr val="4ADE80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800600" y="2487168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主要負責：遊戲 &amp; 管理員系統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2871216"/>
            <a:ext cx="137160" cy="137160"/>
          </a:xfrm>
          <a:prstGeom prst="oval">
            <a:avLst/>
          </a:prstGeom>
          <a:solidFill>
            <a:srgbClr val="4ADE80">
              <a:alpha val="6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102352" y="280720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modules_games.py 遊戲模組開發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92040" y="3191256"/>
            <a:ext cx="137160" cy="137160"/>
          </a:xfrm>
          <a:prstGeom prst="oval">
            <a:avLst/>
          </a:prstGeom>
          <a:solidFill>
            <a:srgbClr val="4ADE80">
              <a:alpha val="6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102352" y="312724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modules_admin.py 管理員功能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892040" y="3511296"/>
            <a:ext cx="137160" cy="137160"/>
          </a:xfrm>
          <a:prstGeom prst="oval">
            <a:avLst/>
          </a:prstGeom>
          <a:solidFill>
            <a:srgbClr val="4ADE80">
              <a:alpha val="6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102352" y="344728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歡迎/離開訊息系統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92040" y="3831336"/>
            <a:ext cx="137160" cy="137160"/>
          </a:xfrm>
          <a:prstGeom prst="oval">
            <a:avLst/>
          </a:prstGeom>
          <a:solidFill>
            <a:srgbClr val="4ADE80">
              <a:alpha val="6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102352" y="376732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自定義命令功能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892040" y="4151376"/>
            <a:ext cx="137160" cy="137160"/>
          </a:xfrm>
          <a:prstGeom prst="oval">
            <a:avLst/>
          </a:prstGeom>
          <a:solidFill>
            <a:srgbClr val="4ADE80">
              <a:alpha val="6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102352" y="40873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管理員操作日誌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92040" y="4471416"/>
            <a:ext cx="137160" cy="137160"/>
          </a:xfrm>
          <a:prstGeom prst="oval">
            <a:avLst/>
          </a:prstGeom>
          <a:solidFill>
            <a:srgbClr val="4ADE80">
              <a:alpha val="6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102352" y="440740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測試與 Bug 修正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5760" y="5157216"/>
            <a:ext cx="8412480" cy="274320"/>
          </a:xfrm>
          <a:prstGeom prst="roundRect">
            <a:avLst>
              <a:gd name="adj" fmla="val 33333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02920" y="51572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9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共同：prism_config.py 設定、整體測試、簡報製作、AI 輔助除錯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未來展望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Plans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2743200" cy="438912"/>
          </a:xfrm>
          <a:prstGeom prst="roundRect">
            <a:avLst>
              <a:gd name="adj" fmla="val 20833"/>
            </a:avLst>
          </a:prstGeom>
          <a:solidFill>
            <a:srgbClr val="4ADE8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96012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短期  v2.1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2743200" cy="1664208"/>
          </a:xfrm>
          <a:prstGeom prst="roundRect">
            <a:avLst>
              <a:gd name="adj" fmla="val 5495"/>
            </a:avLst>
          </a:prstGeom>
          <a:solidFill>
            <a:srgbClr val="2E3568"/>
          </a:solidFill>
          <a:ln w="10160">
            <a:solidFill>
              <a:srgbClr val="4ADE80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371600" y="1645920"/>
            <a:ext cx="594360" cy="594360"/>
          </a:xfrm>
          <a:prstGeom prst="oval">
            <a:avLst/>
          </a:prstGeom>
          <a:solidFill>
            <a:srgbClr val="4ADE80">
              <a:alpha val="4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371600" y="16459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/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5488" y="2331720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經濟系統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" y="2679192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挖礦・釣魚・狩獵・老虎機・寵物，讓遊戲體驗更完整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3337560"/>
            <a:ext cx="2743200" cy="1664208"/>
          </a:xfrm>
          <a:prstGeom prst="roundRect">
            <a:avLst>
              <a:gd name="adj" fmla="val 5495"/>
            </a:avLst>
          </a:prstGeom>
          <a:solidFill>
            <a:srgbClr val="2E3568"/>
          </a:solidFill>
          <a:ln w="10160">
            <a:solidFill>
              <a:srgbClr val="4ADE80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371600" y="3474720"/>
            <a:ext cx="594360" cy="594360"/>
          </a:xfrm>
          <a:prstGeom prst="oval">
            <a:avLst/>
          </a:prstGeom>
          <a:solidFill>
            <a:srgbClr val="4ADE80">
              <a:alpha val="4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71600" y="34747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/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5488" y="4160520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命令支援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" y="4507992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從前綴命令（!）升級到 Discord 原生 Slash 命令（/），更直觀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960120"/>
            <a:ext cx="2743200" cy="438912"/>
          </a:xfrm>
          <a:prstGeom prst="roundRect">
            <a:avLst>
              <a:gd name="adj" fmla="val 20833"/>
            </a:avLst>
          </a:prstGeom>
          <a:solidFill>
            <a:srgbClr val="F9C74F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310128" y="96012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中期  v2.5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310128" y="1508760"/>
            <a:ext cx="2743200" cy="1664208"/>
          </a:xfrm>
          <a:prstGeom prst="roundRect">
            <a:avLst>
              <a:gd name="adj" fmla="val 5495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315968" y="1645920"/>
            <a:ext cx="594360" cy="594360"/>
          </a:xfrm>
          <a:prstGeom prst="oval">
            <a:avLst/>
          </a:prstGeom>
          <a:solidFill>
            <a:srgbClr val="F9C74F">
              <a:alpha val="40000"/>
            </a:srgbClr>
          </a:solidFill>
          <a:ln w="12700">
            <a:solidFill>
              <a:srgbClr val="F9C74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315968" y="16459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/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419856" y="2331720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音樂播放系統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419856" y="2679192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 YouTube / Spotify 播放清單，Bot 加入語音頻道播放音樂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10128" y="3337560"/>
            <a:ext cx="2743200" cy="1664208"/>
          </a:xfrm>
          <a:prstGeom prst="roundRect">
            <a:avLst>
              <a:gd name="adj" fmla="val 5495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315968" y="3474720"/>
            <a:ext cx="594360" cy="594360"/>
          </a:xfrm>
          <a:prstGeom prst="oval">
            <a:avLst/>
          </a:prstGeom>
          <a:solidFill>
            <a:srgbClr val="F9C74F">
              <a:alpha val="40000"/>
            </a:srgbClr>
          </a:solidFill>
          <a:ln w="12700">
            <a:solidFill>
              <a:srgbClr val="F9C74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315968" y="34747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/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419856" y="4160520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伺服器儀表板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19856" y="4507992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網頁版管理後台，透過瀏覽器查看統計數據與設定 Bot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54496" y="960120"/>
            <a:ext cx="2743200" cy="438912"/>
          </a:xfrm>
          <a:prstGeom prst="roundRect">
            <a:avLst>
              <a:gd name="adj" fmla="val 20833"/>
            </a:avLst>
          </a:prstGeom>
          <a:solidFill>
            <a:srgbClr val="F472B6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254496" y="96012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長期  v3.0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254496" y="1508760"/>
            <a:ext cx="2743200" cy="1664208"/>
          </a:xfrm>
          <a:prstGeom prst="roundRect">
            <a:avLst>
              <a:gd name="adj" fmla="val 5495"/>
            </a:avLst>
          </a:prstGeom>
          <a:solidFill>
            <a:srgbClr val="2E3568"/>
          </a:solidFill>
          <a:ln w="10160">
            <a:solidFill>
              <a:srgbClr val="F472B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7260336" y="1645920"/>
            <a:ext cx="594360" cy="594360"/>
          </a:xfrm>
          <a:prstGeom prst="oval">
            <a:avLst/>
          </a:prstGeom>
          <a:solidFill>
            <a:srgbClr val="F472B6">
              <a:alpha val="40000"/>
            </a:srgbClr>
          </a:solidFill>
          <a:ln w="12700">
            <a:solidFill>
              <a:srgbClr val="F472B6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260336" y="16459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/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364224" y="2331720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向量記憶庫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364224" y="2679192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引入 ChromaDB 讓 AI 記住更長期的對話脈絡，突破 10 輪限制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54496" y="3337560"/>
            <a:ext cx="2743200" cy="1664208"/>
          </a:xfrm>
          <a:prstGeom prst="roundRect">
            <a:avLst>
              <a:gd name="adj" fmla="val 5495"/>
            </a:avLst>
          </a:prstGeom>
          <a:solidFill>
            <a:srgbClr val="2E3568"/>
          </a:solidFill>
          <a:ln w="10160">
            <a:solidFill>
              <a:srgbClr val="F472B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7260336" y="3474720"/>
            <a:ext cx="594360" cy="594360"/>
          </a:xfrm>
          <a:prstGeom prst="oval">
            <a:avLst/>
          </a:prstGeom>
          <a:solidFill>
            <a:srgbClr val="F472B6">
              <a:alpha val="40000"/>
            </a:srgbClr>
          </a:solidFill>
          <a:ln w="12700">
            <a:solidFill>
              <a:srgbClr val="F472B6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260336" y="34747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/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364224" y="4160520"/>
            <a:ext cx="25237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自訓練模型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364224" y="4507992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用伺服器對話數據 Fine-tune 個性化模型，打造專屬 AI 人格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️ Demo 演示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114800" cy="1920240"/>
          </a:xfrm>
          <a:prstGeom prst="roundRect">
            <a:avLst>
              <a:gd name="adj" fmla="val 4762"/>
            </a:avLst>
          </a:prstGeom>
          <a:solidFill>
            <a:srgbClr val="2E3568"/>
          </a:solidFill>
          <a:ln w="10160">
            <a:solidFill>
              <a:srgbClr val="7C6AF7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960120"/>
            <a:ext cx="4114800" cy="402336"/>
          </a:xfrm>
          <a:prstGeom prst="roundRect">
            <a:avLst>
              <a:gd name="adj" fmla="val 22727"/>
            </a:avLst>
          </a:prstGeom>
          <a:solidFill>
            <a:srgbClr val="7C6AF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75488" y="1014984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25880" y="99669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/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64208" y="1014984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首次啟動 &amp; 歡迎引導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" y="1463040"/>
            <a:ext cx="3785616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DM 傳送任意訊息，Bot 自動顯示完整引導介面，列出所有角色與命令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4114800" cy="1920240"/>
          </a:xfrm>
          <a:prstGeom prst="roundRect">
            <a:avLst>
              <a:gd name="adj" fmla="val 4762"/>
            </a:avLst>
          </a:prstGeom>
          <a:solidFill>
            <a:srgbClr val="2E3568"/>
          </a:solidFill>
          <a:ln w="10160">
            <a:solidFill>
              <a:srgbClr val="22D3EE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709160" y="960120"/>
            <a:ext cx="4114800" cy="402336"/>
          </a:xfrm>
          <a:prstGeom prst="roundRect">
            <a:avLst>
              <a:gd name="adj" fmla="val 22727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18888" y="1014984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0" y="99669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/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07608" y="1014984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對話切換角色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73752" y="1463040"/>
            <a:ext cx="3785616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!mode 程式 切換角色 → !ask 用 Python 寫一個費氏數列 → 展示連續對話記憶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3044952"/>
            <a:ext cx="4114800" cy="1920240"/>
          </a:xfrm>
          <a:prstGeom prst="roundRect">
            <a:avLst>
              <a:gd name="adj" fmla="val 4762"/>
            </a:avLst>
          </a:prstGeom>
          <a:solidFill>
            <a:srgbClr val="2E3568"/>
          </a:solidFill>
          <a:ln w="10160">
            <a:solidFill>
              <a:srgbClr val="4ADE80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65760" y="3044952"/>
            <a:ext cx="4114800" cy="402336"/>
          </a:xfrm>
          <a:prstGeom prst="roundRect">
            <a:avLst>
              <a:gd name="adj" fmla="val 22727"/>
            </a:avLst>
          </a:prstGeom>
          <a:solidFill>
            <a:srgbClr val="4ADE80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75488" y="3099816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25880" y="30815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/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64208" y="3099816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遊戲 Demo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0352" y="3547872"/>
            <a:ext cx="3785616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!pokemon 啟動猜謎 → !guess 皮卡丘 → 答對得分 → !score 查看分數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09160" y="3044952"/>
            <a:ext cx="4114800" cy="1920240"/>
          </a:xfrm>
          <a:prstGeom prst="roundRect">
            <a:avLst>
              <a:gd name="adj" fmla="val 4762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709160" y="3044952"/>
            <a:ext cx="4114800" cy="402336"/>
          </a:xfrm>
          <a:prstGeom prst="roundRect">
            <a:avLst>
              <a:gd name="adj" fmla="val 22727"/>
            </a:avLst>
          </a:prstGeom>
          <a:solidFill>
            <a:srgbClr val="F9C74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818888" y="3099816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0" y="30815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️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07608" y="3099816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管理員功能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73752" y="3547872"/>
            <a:ext cx="3785616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!admin stats 查看統計 → !admin welcome 設定歡迎訊息 → !admin update 廣播通知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65760" y="4882896"/>
            <a:ext cx="8412480" cy="256032"/>
          </a:xfrm>
          <a:prstGeom prst="roundRect">
            <a:avLst>
              <a:gd name="adj" fmla="val 35714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02920" y="48828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9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請開啟 Discord，已邀請 Bot 至測試伺服器  ·  如有問題可隨時暫停 Demo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快速安裝指南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Start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5488" y="1261872"/>
            <a:ext cx="384048" cy="384048"/>
          </a:xfrm>
          <a:prstGeom prst="oval">
            <a:avLst/>
          </a:prstGeom>
          <a:solidFill>
            <a:srgbClr val="7C6AF7"/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75488" y="1261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1060704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安裝 Ollama &amp; 拉取模型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60120" y="1371600"/>
            <a:ext cx="333756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24128" y="13716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pull Qwen2.5-1.5B-Instruct</a:t>
            </a:r>
            <a:endParaRPr lang="en-US" sz="780" dirty="0"/>
          </a:p>
        </p:txBody>
      </p:sp>
      <p:sp>
        <p:nvSpPr>
          <p:cNvPr id="12" name="Text 10"/>
          <p:cNvSpPr/>
          <p:nvPr/>
        </p:nvSpPr>
        <p:spPr>
          <a:xfrm>
            <a:off x="960120" y="1682496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前往 ollama.ai 下載安裝，支援 Windows / Mac / Linux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773168" y="1261872"/>
            <a:ext cx="384048" cy="384048"/>
          </a:xfrm>
          <a:prstGeom prst="oval">
            <a:avLst/>
          </a:prstGeom>
          <a:solidFill>
            <a:srgbClr val="7C6AF7"/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73168" y="1261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57800" y="1060704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安裝 Python 套件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257800" y="1371600"/>
            <a:ext cx="333756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21808" y="13716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5257800" y="1682496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在專案資料夾執行，自動安裝所有依賴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205740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75488" y="2313432"/>
            <a:ext cx="384048" cy="384048"/>
          </a:xfrm>
          <a:prstGeom prst="oval">
            <a:avLst/>
          </a:prstGeom>
          <a:solidFill>
            <a:srgbClr val="7C6AF7"/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75488" y="23134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2112264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取得 Discord Bot Token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60120" y="2423160"/>
            <a:ext cx="333756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24128" y="2423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discord.com/developers/applications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960120" y="2734056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新增應用 → Bot → 複製 Token，啟用 Message Content + Members Intent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63440" y="205740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773168" y="2313432"/>
            <a:ext cx="384048" cy="384048"/>
          </a:xfrm>
          <a:prstGeom prst="oval">
            <a:avLst/>
          </a:prstGeom>
          <a:solidFill>
            <a:srgbClr val="7C6AF7"/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773168" y="23134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257800" y="2112264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設定.env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257800" y="2423160"/>
            <a:ext cx="333756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321808" y="2423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DISCORD_TOKEN=你的Token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OLLAMA_MODEL=Qwen2.5-1.5B-Instruct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5257800" y="2734056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ADMIN_IDS 選填，可不填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310896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75488" y="3364992"/>
            <a:ext cx="384048" cy="384048"/>
          </a:xfrm>
          <a:prstGeom prst="oval">
            <a:avLst/>
          </a:prstGeom>
          <a:solidFill>
            <a:srgbClr val="7C6AF7"/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75488" y="3364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60120" y="3163824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邀請 Bot 到伺服器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960120" y="3474720"/>
            <a:ext cx="333756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024128" y="3474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OAuth2 → URL Generator → scope: bot</a:t>
            </a:r>
            <a:endParaRPr lang="en-US" sz="780" dirty="0"/>
          </a:p>
        </p:txBody>
      </p:sp>
      <p:sp>
        <p:nvSpPr>
          <p:cNvPr id="40" name="Text 38"/>
          <p:cNvSpPr/>
          <p:nvPr/>
        </p:nvSpPr>
        <p:spPr>
          <a:xfrm>
            <a:off x="960120" y="3785616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勾選 Send Messages + Read Messages + Read Message History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663440" y="310896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4773168" y="3364992"/>
            <a:ext cx="384048" cy="384048"/>
          </a:xfrm>
          <a:prstGeom prst="oval">
            <a:avLst/>
          </a:prstGeom>
          <a:solidFill>
            <a:srgbClr val="7C6AF7"/>
          </a:solidFill>
          <a:ln w="12700">
            <a:solidFill>
              <a:srgbClr val="7C6AF7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4773168" y="3364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257800" y="3163824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啟動！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5257800" y="3474720"/>
            <a:ext cx="3337560" cy="274320"/>
          </a:xfrm>
          <a:prstGeom prst="roundRect">
            <a:avLst>
              <a:gd name="adj" fmla="val 33333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321808" y="3474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bot.py</a:t>
            </a:r>
            <a:endParaRPr lang="en-US" sz="780" dirty="0"/>
          </a:p>
        </p:txBody>
      </p:sp>
      <p:sp>
        <p:nvSpPr>
          <p:cNvPr id="47" name="Text 45"/>
          <p:cNvSpPr/>
          <p:nvPr/>
        </p:nvSpPr>
        <p:spPr>
          <a:xfrm>
            <a:off x="5257800" y="3785616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看到「Bot 已連線」即成功！在 DM 傳任何訊息觸發引導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️ 詳細配置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Guide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" y="77724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9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環境變數（設定.env）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2194560" cy="301752"/>
          </a:xfrm>
          <a:prstGeom prst="roundRect">
            <a:avLst>
              <a:gd name="adj" fmla="val 30303"/>
            </a:avLst>
          </a:prstGeom>
          <a:solidFill>
            <a:srgbClr val="7C6AF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11480" y="1078992"/>
            <a:ext cx="2103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變數名稱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06040" y="1078992"/>
            <a:ext cx="914400" cy="301752"/>
          </a:xfrm>
          <a:prstGeom prst="roundRect">
            <a:avLst>
              <a:gd name="adj" fmla="val 30303"/>
            </a:avLst>
          </a:prstGeom>
          <a:solidFill>
            <a:srgbClr val="7C6AF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651760" y="1078992"/>
            <a:ext cx="8229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66160" y="1078992"/>
            <a:ext cx="1645920" cy="301752"/>
          </a:xfrm>
          <a:prstGeom prst="roundRect">
            <a:avLst>
              <a:gd name="adj" fmla="val 30303"/>
            </a:avLst>
          </a:prstGeom>
          <a:solidFill>
            <a:srgbClr val="7C6A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11880" y="1078992"/>
            <a:ext cx="15544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預設值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57800" y="1078992"/>
            <a:ext cx="3383280" cy="301752"/>
          </a:xfrm>
          <a:prstGeom prst="roundRect">
            <a:avLst>
              <a:gd name="adj" fmla="val 30303"/>
            </a:avLst>
          </a:prstGeom>
          <a:solidFill>
            <a:srgbClr val="7C6AF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303520" y="1078992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說明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408176"/>
            <a:ext cx="2194560" cy="347472"/>
          </a:xfrm>
          <a:prstGeom prst="roundRect">
            <a:avLst>
              <a:gd name="adj" fmla="val 26316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29768" y="1408176"/>
            <a:ext cx="20665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DISCORD_TOKEN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606040" y="1408176"/>
            <a:ext cx="914400" cy="347472"/>
          </a:xfrm>
          <a:prstGeom prst="roundRect">
            <a:avLst>
              <a:gd name="adj" fmla="val 26316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2670048" y="1408176"/>
            <a:ext cx="7863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必需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66160" y="1408176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630168" y="1408176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257800" y="1408176"/>
            <a:ext cx="3383280" cy="347472"/>
          </a:xfrm>
          <a:prstGeom prst="roundRect">
            <a:avLst>
              <a:gd name="adj" fmla="val 26316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321808" y="1408176"/>
            <a:ext cx="32552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 Bot Token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1810512"/>
            <a:ext cx="2194560" cy="347472"/>
          </a:xfrm>
          <a:prstGeom prst="roundRect">
            <a:avLst>
              <a:gd name="adj" fmla="val 26316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29768" y="1810512"/>
            <a:ext cx="20665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OLLAMA_BASE_URL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606040" y="1810512"/>
            <a:ext cx="914400" cy="347472"/>
          </a:xfrm>
          <a:prstGeom prst="roundRect">
            <a:avLst>
              <a:gd name="adj" fmla="val 26316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2670048" y="1810512"/>
            <a:ext cx="7863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選填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566160" y="1810512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630168" y="18105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localhost:11434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257800" y="1810512"/>
            <a:ext cx="3383280" cy="347472"/>
          </a:xfrm>
          <a:prstGeom prst="roundRect">
            <a:avLst>
              <a:gd name="adj" fmla="val 26316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321808" y="1810512"/>
            <a:ext cx="32552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API 地址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5760" y="2212848"/>
            <a:ext cx="2194560" cy="347472"/>
          </a:xfrm>
          <a:prstGeom prst="roundRect">
            <a:avLst>
              <a:gd name="adj" fmla="val 26316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29768" y="2212848"/>
            <a:ext cx="20665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OLLAMA_MODEL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606040" y="2212848"/>
            <a:ext cx="914400" cy="347472"/>
          </a:xfrm>
          <a:prstGeom prst="roundRect">
            <a:avLst>
              <a:gd name="adj" fmla="val 26316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70048" y="2212848"/>
            <a:ext cx="7863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選填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6160" y="2212848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3630168" y="2212848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qwen2.5:1.5b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257800" y="2212848"/>
            <a:ext cx="3383280" cy="347472"/>
          </a:xfrm>
          <a:prstGeom prst="roundRect">
            <a:avLst>
              <a:gd name="adj" fmla="val 26316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321808" y="2212848"/>
            <a:ext cx="32552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模型名稱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2615184"/>
            <a:ext cx="2194560" cy="347472"/>
          </a:xfrm>
          <a:prstGeom prst="roundRect">
            <a:avLst>
              <a:gd name="adj" fmla="val 26316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29768" y="2615184"/>
            <a:ext cx="20665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ADMIN_IDS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6040" y="2615184"/>
            <a:ext cx="914400" cy="347472"/>
          </a:xfrm>
          <a:prstGeom prst="roundRect">
            <a:avLst>
              <a:gd name="adj" fmla="val 26316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2670048" y="2615184"/>
            <a:ext cx="7863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選填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6160" y="2615184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3630168" y="2615184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257800" y="2615184"/>
            <a:ext cx="3383280" cy="347472"/>
          </a:xfrm>
          <a:prstGeom prst="roundRect">
            <a:avLst>
              <a:gd name="adj" fmla="val 26316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321808" y="2615184"/>
            <a:ext cx="32552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管理員 Discord ID（逗號分隔）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65760" y="3337560"/>
            <a:ext cx="4114800" cy="1508760"/>
          </a:xfrm>
          <a:prstGeom prst="roundRect">
            <a:avLst>
              <a:gd name="adj" fmla="val 6061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548640" y="34015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9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修改對話記憶長度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48640" y="3703320"/>
            <a:ext cx="3749040" cy="548640"/>
          </a:xfrm>
          <a:prstGeom prst="roundRect">
            <a:avLst>
              <a:gd name="adj" fmla="val 16667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640080" y="3721608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bot.py 第 ~100 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MAX_HISTORY = 10  # 改為想要的值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48640" y="42976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增大保留更多上下文，減少可節省記憶體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663440" y="3337560"/>
            <a:ext cx="4114800" cy="1508760"/>
          </a:xfrm>
          <a:prstGeom prst="roundRect">
            <a:avLst>
              <a:gd name="adj" fmla="val 6061"/>
            </a:avLst>
          </a:prstGeom>
          <a:solidFill>
            <a:srgbClr val="242B55"/>
          </a:solidFill>
          <a:ln/>
          <a:effectLst>
            <a:outerShdw sx="100000" sy="100000" kx="0" ky="0" algn="bl" rotWithShape="0" blurRad="76200" dist="25400" dir="27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4846320" y="34015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9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自訂 AI 角色（prism_config.py）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846320" y="3703320"/>
            <a:ext cx="3749040" cy="548640"/>
          </a:xfrm>
          <a:prstGeom prst="roundRect">
            <a:avLst>
              <a:gd name="adj" fmla="val 16667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4919472" y="3721608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PERSONALITIES 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"自訂": {"prefix":"x","system":"你是..."}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846320" y="42976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修改後重啟 Bot 即可使用新角色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推薦 Ollama 模型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AI Models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2E3568"/>
          </a:solidFill>
          <a:ln w="10160">
            <a:solidFill>
              <a:srgbClr val="7C6AF7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5488" y="1115568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7C6AF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75488" y="11155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預設推薦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965960" y="1078992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Qwen2.5-1.5B-Instruct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965960" y="14813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最佳中文支援，預設模型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10789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大小: 980MB  ·  速度: 快速  ·  質量: 優秀  ·  ⭐⭐⭐⭐⭐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03520" y="1435608"/>
            <a:ext cx="3291840" cy="310896"/>
          </a:xfrm>
          <a:prstGeom prst="roundRect">
            <a:avLst>
              <a:gd name="adj" fmla="val 29412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376672" y="1463040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pull Qwen2.5-1.5B-Instruct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1993392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2E3568"/>
          </a:solidFill>
          <a:ln w="10160">
            <a:solidFill>
              <a:srgbClr val="4ADE80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75488" y="210312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4ADE8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75488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速度優先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65960" y="2066544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gemma2:2b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65960" y="2468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有限時首選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03520" y="206654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大小: 1.6GB  ·  速度: 最快  ·  質量: 良好  ·  ⭐⭐⭐⭐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03520" y="2423160"/>
            <a:ext cx="3291840" cy="310896"/>
          </a:xfrm>
          <a:prstGeom prst="roundRect">
            <a:avLst>
              <a:gd name="adj" fmla="val 29412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76672" y="2450592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pull gemma2:2b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2980944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2E3568"/>
          </a:solidFill>
          <a:ln w="10160">
            <a:solidFill>
              <a:srgbClr val="22D3EE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5488" y="3090672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75488" y="309067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英文優先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965960" y="3054096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llama2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965960" y="34564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英文對話表現出色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03520" y="3054096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大小: 3.8GB  ·  速度: 中等  ·  質量: 優秀  ·  ⭐⭐⭐⭐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03520" y="3410712"/>
            <a:ext cx="3291840" cy="310896"/>
          </a:xfrm>
          <a:prstGeom prst="roundRect">
            <a:avLst>
              <a:gd name="adj" fmla="val 29412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376672" y="3438144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pull llama2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65760" y="39684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75488" y="4078224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9C74F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75488" y="407822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指令跟隨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965960" y="4041648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mistral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965960" y="4443984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指令跟隨能力強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303520" y="404164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大小: 4.1GB  ·  速度: 中等  ·  質量: 優秀  ·  ⭐⭐⭐⭐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03520" y="4398264"/>
            <a:ext cx="3291840" cy="310896"/>
          </a:xfrm>
          <a:prstGeom prst="roundRect">
            <a:avLst>
              <a:gd name="adj" fmla="val 29412"/>
            </a:avLst>
          </a:prstGeom>
          <a:solidFill>
            <a:srgbClr val="1A1F3C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376672" y="4425696"/>
            <a:ext cx="3145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pull mistral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實戰使用場景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069080" cy="2011680"/>
          </a:xfrm>
          <a:prstGeom prst="roundRect">
            <a:avLst>
              <a:gd name="adj" fmla="val 4545"/>
            </a:avLst>
          </a:prstGeom>
          <a:solidFill>
            <a:srgbClr val="2E3568"/>
          </a:solidFill>
          <a:ln w="10160">
            <a:solidFill>
              <a:srgbClr val="22D3EE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960120"/>
            <a:ext cx="4069080" cy="384048"/>
          </a:xfrm>
          <a:prstGeom prst="roundRect">
            <a:avLst>
              <a:gd name="adj" fmla="val 2381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75488" y="1005840"/>
            <a:ext cx="38496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學習 Python 程式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481328"/>
            <a:ext cx="201168" cy="201168"/>
          </a:xfrm>
          <a:prstGeom prst="oval">
            <a:avLst/>
          </a:prstGeom>
          <a:solidFill>
            <a:srgbClr val="22D3EE">
              <a:alpha val="50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141732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!mode 程式  →  切換到程式角色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1847088"/>
            <a:ext cx="201168" cy="201168"/>
          </a:xfrm>
          <a:prstGeom prst="oval">
            <a:avLst/>
          </a:prstGeom>
          <a:solidFill>
            <a:srgbClr val="22D3EE">
              <a:alpha val="50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7240" y="178308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!ask 什麼是函數？  →  基礎解說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201168" cy="201168"/>
          </a:xfrm>
          <a:prstGeom prst="oval">
            <a:avLst/>
          </a:prstGeom>
          <a:solidFill>
            <a:srgbClr val="22D3EE">
              <a:alpha val="50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214884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!ask 能給我一個例子嗎？  →  AI 記得上文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2578608"/>
            <a:ext cx="201168" cy="201168"/>
          </a:xfrm>
          <a:prstGeom prst="oval">
            <a:avLst/>
          </a:prstGeom>
          <a:solidFill>
            <a:srgbClr val="22D3EE">
              <a:alpha val="50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251460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!clear  →  開始新話題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63440" y="960120"/>
            <a:ext cx="4069080" cy="2011680"/>
          </a:xfrm>
          <a:prstGeom prst="roundRect">
            <a:avLst>
              <a:gd name="adj" fmla="val 4545"/>
            </a:avLst>
          </a:prstGeom>
          <a:solidFill>
            <a:srgbClr val="2E3568"/>
          </a:solidFill>
          <a:ln w="10160">
            <a:solidFill>
              <a:srgbClr val="4ADE80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663440" y="960120"/>
            <a:ext cx="4069080" cy="384048"/>
          </a:xfrm>
          <a:prstGeom prst="roundRect">
            <a:avLst>
              <a:gd name="adj" fmla="val 23810"/>
            </a:avLst>
          </a:prstGeom>
          <a:solidFill>
            <a:srgbClr val="4ADE8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73168" y="1005840"/>
            <a:ext cx="38496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遊戲挑戰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00600" y="1481328"/>
            <a:ext cx="201168" cy="201168"/>
          </a:xfrm>
          <a:prstGeom prst="oval">
            <a:avLst/>
          </a:prstGeom>
          <a:solidFill>
            <a:srgbClr val="4ADE80">
              <a:alpha val="5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74920" y="141732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!pokemon  →  啟動 Pokémon 猜謎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00600" y="1847088"/>
            <a:ext cx="201168" cy="201168"/>
          </a:xfrm>
          <a:prstGeom prst="oval">
            <a:avLst/>
          </a:prstGeom>
          <a:solidFill>
            <a:srgbClr val="4ADE80">
              <a:alpha val="5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074920" y="178308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!guess 皮卡丘  →  提交猜測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00600" y="2212848"/>
            <a:ext cx="201168" cy="201168"/>
          </a:xfrm>
          <a:prstGeom prst="oval">
            <a:avLst/>
          </a:prstGeom>
          <a:solidFill>
            <a:srgbClr val="4ADE80">
              <a:alpha val="5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074920" y="214884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!trivia  →  切換到知識競賽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800600" y="2578608"/>
            <a:ext cx="201168" cy="201168"/>
          </a:xfrm>
          <a:prstGeom prst="oval">
            <a:avLst/>
          </a:prstGeom>
          <a:solidFill>
            <a:srgbClr val="4ADE80">
              <a:alpha val="50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074920" y="251460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!score  →  查看累積分數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3154680"/>
            <a:ext cx="4069080" cy="2011680"/>
          </a:xfrm>
          <a:prstGeom prst="roundRect">
            <a:avLst>
              <a:gd name="adj" fmla="val 4545"/>
            </a:avLst>
          </a:prstGeom>
          <a:solidFill>
            <a:srgbClr val="2E3568"/>
          </a:solidFill>
          <a:ln w="10160">
            <a:solidFill>
              <a:srgbClr val="F9C74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365760" y="3154680"/>
            <a:ext cx="4069080" cy="384048"/>
          </a:xfrm>
          <a:prstGeom prst="roundRect">
            <a:avLst>
              <a:gd name="adj" fmla="val 23810"/>
            </a:avLst>
          </a:prstGeom>
          <a:solidFill>
            <a:srgbClr val="F9C74F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75488" y="3200400"/>
            <a:ext cx="38496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數學解題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2920" y="3675888"/>
            <a:ext cx="201168" cy="201168"/>
          </a:xfrm>
          <a:prstGeom prst="oval">
            <a:avLst/>
          </a:prstGeom>
          <a:solidFill>
            <a:srgbClr val="F9C74F">
              <a:alpha val="50000"/>
            </a:srgbClr>
          </a:solidFill>
          <a:ln w="12700">
            <a:solidFill>
              <a:srgbClr val="F9C74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77240" y="361188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!mode 數理  →  切換數理角色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02920" y="4041648"/>
            <a:ext cx="201168" cy="201168"/>
          </a:xfrm>
          <a:prstGeom prst="oval">
            <a:avLst/>
          </a:prstGeom>
          <a:solidFill>
            <a:srgbClr val="F9C74F">
              <a:alpha val="50000"/>
            </a:srgbClr>
          </a:solidFill>
          <a:ln w="12700">
            <a:solidFill>
              <a:srgbClr val="F9C74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77240" y="397764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!ask 求解：2x + 5 = 13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4407408"/>
            <a:ext cx="201168" cy="201168"/>
          </a:xfrm>
          <a:prstGeom prst="oval">
            <a:avLst/>
          </a:prstGeom>
          <a:solidFill>
            <a:srgbClr val="F9C74F">
              <a:alpha val="50000"/>
            </a:srgbClr>
          </a:solidFill>
          <a:ln w="12700">
            <a:solidFill>
              <a:srgbClr val="F9C74F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77240" y="434340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逐步推導回答：x = 4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02920" y="4773168"/>
            <a:ext cx="201168" cy="201168"/>
          </a:xfrm>
          <a:prstGeom prst="oval">
            <a:avLst/>
          </a:prstGeom>
          <a:solidFill>
            <a:srgbClr val="F9C74F">
              <a:alpha val="50000"/>
            </a:srgbClr>
          </a:solidFill>
          <a:ln w="12700">
            <a:solidFill>
              <a:srgbClr val="F9C74F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77240" y="470916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!ask 再給我一題練習？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663440" y="3154680"/>
            <a:ext cx="4069080" cy="2011680"/>
          </a:xfrm>
          <a:prstGeom prst="roundRect">
            <a:avLst>
              <a:gd name="adj" fmla="val 4545"/>
            </a:avLst>
          </a:prstGeom>
          <a:solidFill>
            <a:srgbClr val="2E3568"/>
          </a:solidFill>
          <a:ln w="10160">
            <a:solidFill>
              <a:srgbClr val="A89BF8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4663440" y="3154680"/>
            <a:ext cx="4069080" cy="384048"/>
          </a:xfrm>
          <a:prstGeom prst="roundRect">
            <a:avLst>
              <a:gd name="adj" fmla="val 23810"/>
            </a:avLst>
          </a:prstGeom>
          <a:solidFill>
            <a:srgbClr val="A89BF8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773168" y="3200400"/>
            <a:ext cx="38496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️ 多語言寫作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800600" y="3675888"/>
            <a:ext cx="201168" cy="201168"/>
          </a:xfrm>
          <a:prstGeom prst="oval">
            <a:avLst/>
          </a:prstGeom>
          <a:solidFill>
            <a:srgbClr val="A89BF8">
              <a:alpha val="50000"/>
            </a:srgbClr>
          </a:solidFill>
          <a:ln w="12700">
            <a:solidFill>
              <a:srgbClr val="A89BF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074920" y="361188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!mode 語文  →  切換語文角色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800600" y="4041648"/>
            <a:ext cx="201168" cy="201168"/>
          </a:xfrm>
          <a:prstGeom prst="oval">
            <a:avLst/>
          </a:prstGeom>
          <a:solidFill>
            <a:srgbClr val="A89BF8">
              <a:alpha val="50000"/>
            </a:srgbClr>
          </a:solidFill>
          <a:ln w="12700">
            <a:solidFill>
              <a:srgbClr val="A89BF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074920" y="397764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!lan english  →  英文模式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800600" y="4407408"/>
            <a:ext cx="201168" cy="201168"/>
          </a:xfrm>
          <a:prstGeom prst="oval">
            <a:avLst/>
          </a:prstGeom>
          <a:solidFill>
            <a:srgbClr val="A89BF8">
              <a:alpha val="50000"/>
            </a:srgbClr>
          </a:solidFill>
          <a:ln w="12700">
            <a:solidFill>
              <a:srgbClr val="A89BF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074920" y="434340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!ask Can you proofread my essay?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800600" y="4773168"/>
            <a:ext cx="201168" cy="201168"/>
          </a:xfrm>
          <a:prstGeom prst="oval">
            <a:avLst/>
          </a:prstGeom>
          <a:solidFill>
            <a:srgbClr val="A89BF8">
              <a:alpha val="50000"/>
            </a:srgbClr>
          </a:solidFill>
          <a:ln w="12700">
            <a:solidFill>
              <a:srgbClr val="A89BF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074920" y="4709160"/>
            <a:ext cx="35204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!ask Make it more formal please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42B55"/>
          </a:solidFill>
          <a:ln w="12700">
            <a:solidFill>
              <a:srgbClr val="242B5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5486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常見問題 &amp; 故障排除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&amp; Troubleshooting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069080" cy="987552"/>
          </a:xfrm>
          <a:prstGeom prst="roundRect">
            <a:avLst>
              <a:gd name="adj" fmla="val 9259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097280"/>
            <a:ext cx="411480" cy="411480"/>
          </a:xfrm>
          <a:prstGeom prst="oval">
            <a:avLst/>
          </a:prstGeom>
          <a:solidFill>
            <a:srgbClr val="F87171">
              <a:alpha val="45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1069848"/>
            <a:ext cx="3355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不回應？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3355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 Ollama 是否運行（ollama list）、Token 是否正確、Bot 是否有 Send Messages 權限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069080" cy="987552"/>
          </a:xfrm>
          <a:prstGeom prst="roundRect">
            <a:avLst>
              <a:gd name="adj" fmla="val 9259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754880" y="1097280"/>
            <a:ext cx="411480" cy="411480"/>
          </a:xfrm>
          <a:prstGeom prst="oval">
            <a:avLst/>
          </a:prstGeom>
          <a:solidFill>
            <a:srgbClr val="22D3EE">
              <a:alpha val="45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5488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/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57800" y="1069848"/>
            <a:ext cx="3355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只能在私信用？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1371600"/>
            <a:ext cx="3355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是的，Bot 只在 DM 中回應命令，在伺服器頻道輸入命令會提示「請在私信中使用」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084832"/>
            <a:ext cx="4069080" cy="987552"/>
          </a:xfrm>
          <a:prstGeom prst="roundRect">
            <a:avLst>
              <a:gd name="adj" fmla="val 9259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2176272"/>
            <a:ext cx="411480" cy="411480"/>
          </a:xfrm>
          <a:prstGeom prst="oval">
            <a:avLst/>
          </a:prstGeom>
          <a:solidFill>
            <a:srgbClr val="F9C74F">
              <a:alpha val="45000"/>
            </a:srgbClr>
          </a:solidFill>
          <a:ln w="12700">
            <a:solidFill>
              <a:srgbClr val="F9C74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57200" y="2176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/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0120" y="2148840"/>
            <a:ext cx="3355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回答速度很慢？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" y="2450592"/>
            <a:ext cx="3355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本地模型比雲 API 慢屬正常，可改用較小模型（gemma2:2b）或減少 MAX_HISTORY 值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2084832"/>
            <a:ext cx="4069080" cy="987552"/>
          </a:xfrm>
          <a:prstGeom prst="roundRect">
            <a:avLst>
              <a:gd name="adj" fmla="val 9259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754880" y="2176272"/>
            <a:ext cx="411480" cy="411480"/>
          </a:xfrm>
          <a:prstGeom prst="oval">
            <a:avLst/>
          </a:prstGeom>
          <a:solidFill>
            <a:srgbClr val="F97316">
              <a:alpha val="45000"/>
            </a:srgbClr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54880" y="2176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/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257800" y="2148840"/>
            <a:ext cx="3355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 404 錯誤？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57800" y="2450592"/>
            <a:ext cx="3355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 ollama pull &lt;模型名&gt; 重新下載，或用 ollama list 確認模型名稱與 設定.env 一致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163824"/>
            <a:ext cx="4069080" cy="987552"/>
          </a:xfrm>
          <a:prstGeom prst="roundRect">
            <a:avLst>
              <a:gd name="adj" fmla="val 9259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57200" y="3255264"/>
            <a:ext cx="411480" cy="411480"/>
          </a:xfrm>
          <a:prstGeom prst="oval">
            <a:avLst/>
          </a:prstGeom>
          <a:solidFill>
            <a:srgbClr val="A89BF8">
              <a:alpha val="45000"/>
            </a:srgbClr>
          </a:solidFill>
          <a:ln w="12700">
            <a:solidFill>
              <a:srgbClr val="A89BF8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57200" y="325526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/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60120" y="3227832"/>
            <a:ext cx="3355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重複或無意義回答？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60120" y="3529584"/>
            <a:ext cx="3355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 !clear 清除對話歷史，或更換角色（!mode 程式），改用更具體的問法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3163824"/>
            <a:ext cx="4069080" cy="987552"/>
          </a:xfrm>
          <a:prstGeom prst="roundRect">
            <a:avLst>
              <a:gd name="adj" fmla="val 9259"/>
            </a:avLst>
          </a:prstGeom>
          <a:solidFill>
            <a:srgbClr val="2E3568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4754880" y="3255264"/>
            <a:ext cx="411480" cy="411480"/>
          </a:xfrm>
          <a:prstGeom prst="oval">
            <a:avLst/>
          </a:prstGeom>
          <a:solidFill>
            <a:srgbClr val="4ADE80">
              <a:alpha val="45000"/>
            </a:srgbClr>
          </a:solidFill>
          <a:ln w="127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754880" y="325526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/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57800" y="3227832"/>
            <a:ext cx="3355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數據文件損壞？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57800" y="3529584"/>
            <a:ext cx="3355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備份後刪除 user_data.json，重啟 Bot 會自動重建空的數據文件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3657600" cy="3657600"/>
          </a:xfrm>
          <a:prstGeom prst="oval">
            <a:avLst/>
          </a:prstGeom>
          <a:solidFill>
            <a:srgbClr val="7C6AF7">
              <a:alpha val="12000"/>
            </a:srgbClr>
          </a:solidFill>
          <a:ln w="12700">
            <a:solidFill>
              <a:srgbClr val="7C6AF7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858000" y="-914400"/>
            <a:ext cx="3200400" cy="3200400"/>
          </a:xfrm>
          <a:prstGeom prst="oval">
            <a:avLst/>
          </a:prstGeom>
          <a:solidFill>
            <a:srgbClr val="F472B6">
              <a:alpha val="12000"/>
            </a:srgbClr>
          </a:solidFill>
          <a:ln w="12700">
            <a:solidFill>
              <a:srgbClr val="F472B6">
                <a:alpha val="1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27432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874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457200" y="26060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感謝聆聽！歡迎試用 subaso-俗北ㄙㄡˊ 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65176" y="3218688"/>
            <a:ext cx="1389888" cy="438912"/>
          </a:xfrm>
          <a:prstGeom prst="roundRect">
            <a:avLst>
              <a:gd name="adj" fmla="val 20833"/>
            </a:avLst>
          </a:prstGeom>
          <a:solidFill>
            <a:srgbClr val="7C6AF7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265176" y="321868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AI對話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709928" y="3218688"/>
            <a:ext cx="1389888" cy="438912"/>
          </a:xfrm>
          <a:prstGeom prst="roundRect">
            <a:avLst>
              <a:gd name="adj" fmla="val 20833"/>
            </a:avLst>
          </a:prstGeom>
          <a:solidFill>
            <a:srgbClr val="F9C74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709928" y="321868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5種角色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54680" y="3218688"/>
            <a:ext cx="1389888" cy="438912"/>
          </a:xfrm>
          <a:prstGeom prst="roundRect">
            <a:avLst>
              <a:gd name="adj" fmla="val 20833"/>
            </a:avLst>
          </a:prstGeom>
          <a:solidFill>
            <a:srgbClr val="4ADE80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3154680" y="321868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多語言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99432" y="3218688"/>
            <a:ext cx="1389888" cy="438912"/>
          </a:xfrm>
          <a:prstGeom prst="roundRect">
            <a:avLst>
              <a:gd name="adj" fmla="val 20833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599432" y="321868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遊戲互動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44184" y="3218688"/>
            <a:ext cx="1389888" cy="438912"/>
          </a:xfrm>
          <a:prstGeom prst="roundRect">
            <a:avLst>
              <a:gd name="adj" fmla="val 20833"/>
            </a:avLst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044184" y="321868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管理工具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488936" y="3218688"/>
            <a:ext cx="1389888" cy="438912"/>
          </a:xfrm>
          <a:prstGeom prst="roundRect">
            <a:avLst>
              <a:gd name="adj" fmla="val 20833"/>
            </a:avLst>
          </a:prstGeom>
          <a:solidFill>
            <a:srgbClr val="F472B6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7488936" y="321868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本地隱私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C6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github.com/AndyChou-UWU/dc-bot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828800" y="4297680"/>
            <a:ext cx="5486400" cy="594360"/>
          </a:xfrm>
          <a:prstGeom prst="roundRect">
            <a:avLst>
              <a:gd name="adj" fmla="val 15385"/>
            </a:avLst>
          </a:prstGeom>
          <a:solidFill>
            <a:srgbClr val="242B55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828800" y="429768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 &amp; A  —  歡迎提問！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138160" y="4983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subaso-俗北ㄙㄡˊ Bot</dc:title>
  <dc:subject>PptxGenJS Presentation</dc:subject>
  <dc:creator>PptxGenJS</dc:creator>
  <cp:lastModifiedBy>PptxGenJS</cp:lastModifiedBy>
  <cp:revision>1</cp:revision>
  <dcterms:created xsi:type="dcterms:W3CDTF">2026-06-16T14:19:14Z</dcterms:created>
  <dcterms:modified xsi:type="dcterms:W3CDTF">2026-06-16T14:19:14Z</dcterms:modified>
</cp:coreProperties>
</file>